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68" r:id="rId3"/>
    <p:sldId id="326" r:id="rId4"/>
    <p:sldId id="277" r:id="rId5"/>
    <p:sldId id="279" r:id="rId6"/>
    <p:sldId id="287" r:id="rId7"/>
    <p:sldId id="305" r:id="rId8"/>
    <p:sldId id="311" r:id="rId9"/>
    <p:sldId id="312" r:id="rId10"/>
    <p:sldId id="315" r:id="rId11"/>
    <p:sldId id="317" r:id="rId12"/>
    <p:sldId id="318" r:id="rId13"/>
    <p:sldId id="319" r:id="rId14"/>
    <p:sldId id="320" r:id="rId15"/>
    <p:sldId id="322" r:id="rId16"/>
    <p:sldId id="32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2274"/>
    <a:srgbClr val="57257D"/>
    <a:srgbClr val="6E2F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170" autoAdjust="0"/>
  </p:normalViewPr>
  <p:slideViewPr>
    <p:cSldViewPr snapToGrid="0">
      <p:cViewPr varScale="1">
        <p:scale>
          <a:sx n="96" d="100"/>
          <a:sy n="96" d="100"/>
        </p:scale>
        <p:origin x="115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1704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39350C-E2D8-4C77-B6DD-A5D373B330A3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F0E492-BAC1-4929-9411-AD4DBAE36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60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Groundwater–surface water interaction and salinity responses to projected rainfall and sea-level rise in South Florida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94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144BC-BF8E-C1B1-A6A4-1D8FF7E10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1E9DF-C237-F61D-83FB-69A8AF076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3D164-88C8-22BD-E0D7-838123965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E515E"/>
                </a:solidFill>
                <a:latin typeface="Arial" panose="020B0604020202020204"/>
                <a:cs typeface="Arial" panose="020B0604020202020204" pitchFamily="34" charset="0"/>
              </a:rPr>
              <a:t>South Florida hydrologic system is dynamic and complex, often called "ground-zero" for climate change impact.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2E515E"/>
                </a:solidFill>
                <a:latin typeface="Arial" panose="020B0604020202020204"/>
                <a:cs typeface="Arial" panose="020B0604020202020204" pitchFamily="34" charset="0"/>
              </a:rPr>
              <a:t>These changes also affect the groundwater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17B63-C96E-36AF-0104-3DACF2B81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7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Groundwater: agriculture, drinking, sanitation, ecology</a:t>
            </a:r>
          </a:p>
          <a:p>
            <a:r>
              <a:rPr lang="en-US" sz="1800" kern="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Biscayne Aquifer: high permeability and direct connection to the sea 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88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587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4513A-DED5-12FC-A17B-97D8F7E7E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A9708-F2CB-9D46-56FD-B8BA71110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A6AF4-9513-0995-325F-A28B49DB9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Overland flow receives water and solutes from canal are classified as external boundaries to the model, as they represent interactions with hydrology outside what is simulated.</a:t>
            </a:r>
            <a:endParaRPr lang="en-US" sz="1200" b="0" kern="1200" dirty="0">
              <a:solidFill>
                <a:srgbClr val="00B050"/>
              </a:solidFill>
              <a:latin typeface="+mj-lt"/>
              <a:ea typeface="+mj-ea"/>
              <a:cs typeface="+mj-cs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kern="1200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Biscayne and Southern Everglades Coastal Transport (BISECT) Model is a combination of the Tides and Inflows to the Mangrove Everglades (TIME) and Biscayne models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BISECT assess the effects of sea-level rise, climate change, and human activities on water resources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BISECT simulates hydrodynamic SW-GW interaction flow in the surficial aquifer system of south Florida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State variables: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surface-water stage</a:t>
            </a:r>
            <a:r>
              <a:rPr lang="en-US" dirty="0"/>
              <a:t>, discharge (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coastal streamflow )</a:t>
            </a:r>
            <a:r>
              <a:rPr lang="en-US" dirty="0"/>
              <a:t>, head, salinity, surface-water-temperature (what is its implication for the future) 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adjustments of frictional resistance in the wetlands: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included some significant Manning’s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GNWUUM+TimesNewRomanPS-ItalicMT"/>
              </a:rPr>
              <a:t>n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adjustments designed to promote additional marsh surface-water migration to Taylor Slough and create better agreement between simulated and measured flows.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Simulated variations in flow to the Everglades coastal streams are substantially affected by groundwater/surface-water interactions in the eastern urban areas.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4000" dirty="0"/>
              <a:t>interactions  among water, </a:t>
            </a:r>
            <a:r>
              <a:rPr lang="en-US" sz="4000" dirty="0" err="1"/>
              <a:t>ecology,human</a:t>
            </a:r>
            <a:r>
              <a:rPr lang="en-US" sz="4000" dirty="0"/>
              <a:t> systems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4000" dirty="0"/>
              <a:t>The BISECT is well suited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for simulating future conditions including sea-level rise with future rainfall and temperature data downscaled from global climate models.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/>
              <a:t>Urbanization and human activities can modify surface roughness, influencing the assigned </a:t>
            </a:r>
            <a:r>
              <a:rPr lang="en-US" sz="2800" dirty="0" err="1"/>
              <a:t>nnn</a:t>
            </a:r>
            <a:r>
              <a:rPr lang="en-US" sz="2800" dirty="0"/>
              <a:t>.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400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/>
              <a:t>Model Refinements: Several enhancements were made relative to the original models to better represent the hydrologic system . These include using more detailed topography, refining Manning’s n roughness coefficients, implementing spatially-variable surface albedo to improve evapotranspiration calculations, increasing the vertical resolution of the aquifer (more model layers) to capture the freshwater–saltwater interface, and extending model boundaries farther offshore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D733A-8F5C-DA7C-BA11-4D9D36929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286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2FA7A-CD07-724E-844B-EA9F9527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9EF5C5-1E91-CAF5-D597-B3AB5D313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8CF74-F025-5C14-EB12-666293FD0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downscaled data sources have been used in various regional scale hydro-climate risk assessment, including but not limited to evaluations of climate change impacts on hydrology, reservoir operations, hydropower generation, future energy demand and climate extreme events </a:t>
            </a:r>
            <a:r>
              <a:rPr lang="en-US" sz="1200" kern="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(Rastogi et al., 2022)</a:t>
            </a:r>
            <a:r>
              <a:rPr lang="en-US" sz="1200" kern="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99167-7D0F-2DD7-DBA4-EEB47AD7B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69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F2C04-15B0-E857-179F-7E5611D81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1D578-66FB-AF7A-E01A-81C7EB076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DDF7E-01A9-470F-9E36-17A1465F5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These results highlighted that while moderate emissions scenarios may result in modest rainfall gains, continued high emissions could slightly decrease in rainfall across parts of the study area.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3141B-6245-4C2B-1DAC-C50AAA64B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35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07562-5A62-A541-C196-89ED37E7D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1C1DF-FDEF-C543-76A2-43F712598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0590F9-F57D-9F5C-73D8-8672097E0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Variation in model performance across different well locations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/>
              <a:t>Hydrogeological heterogeneity boundary conditions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/>
              <a:t>nearby water bodies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/>
              <a:t>pumping activities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800" dirty="0"/>
              <a:t>spatial scale differences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0A6B4-736A-0D47-BC6A-79F24D71E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54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72D27-C941-3F7E-24D6-AED1483AB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A670D-9A0A-C4EF-D671-83D66541D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826293-8FE4-01D1-F6BC-AD2327B4A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Aquatic plants cannot tolerate this salinity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1CBE1-A9F6-46C5-CFC7-E757E1299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314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4BE1F-82F5-A12E-11F9-EA4918096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BCD30-F236-ABC3-0055-6EE604416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8AC0A-AF9B-A7C0-B250-A013D1F4B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Sea level rise can elevate canal water levels even during dry periods, increasing hydraulic head and promoting greater recharge to the groundwater system. </a:t>
            </a:r>
            <a:r>
              <a: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can raise the groundwater table and heighten flood risk during subsequent heavy storm events.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E631F-E1A6-0A5D-15E4-9A66D8944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1419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8DDF7-7D9A-FAE1-7A83-D40B06654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5A45A-86FD-001B-1BED-BD464B320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9EA21-9AC5-36B0-E38D-2A5FB0557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Groundwater hydrologist may be happy with the groundwater level increase, but how about the water quality issue and flood.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7D71C-ED5D-B3C7-39E3-3CFFDC5E75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85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A5BC5-2518-93CE-E305-519AFCA73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826CA-00C8-0356-D7BE-CF2387BC37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D3F737-03A1-6880-1AB4-E7AEBE077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change indicated the change in SW-GW interactions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A78F7-64A1-9358-C606-89B156B14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47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97FB3-EEFB-7A17-9239-30DE8862B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03240-1E65-50B9-AE62-B1335787F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8F79B-2950-2C77-0497-0A5444D6A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FB4EB-53D2-86BE-DC14-17CE5EB244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35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33440-9F8C-D692-86BE-F5E0ED759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8350E-2CD9-C0B3-B7F9-9630C0BD3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AEC009-1487-423B-64B3-55B539B7F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2800" kern="1200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desalination or relocation of wellfields</a:t>
            </a:r>
            <a:endParaRPr lang="en-US" altLang="en-US" sz="2800" b="0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91E1D-48AD-5664-96D8-1899D1A25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0E492-BAC1-4929-9411-AD4DBAE3615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4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3413-5566-7B13-3A6D-F392FECBD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502D34-8271-24BF-98FF-8E54C8596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B1A41-6958-562E-4E52-45B7A2E06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53FA0-6BB9-8B9E-9989-4FE6CCB0F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193E4-0581-C756-6EFD-F690092D8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517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2C264-4B04-F492-B381-B4E2E4A43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AB3D0-4B41-7E17-EF45-ACA3FAE43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359FC-7376-A152-B963-98EACE630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2E3F4-3820-745B-D191-2AF2F540F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568E8-B32A-087A-F474-0EDB49E4A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97A2BC-F14E-D09E-4085-5A9C4139E3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2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464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F98CB-7211-17D7-BA38-A8F964241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93F6C-03E0-F1CE-E5B6-9D38CCD89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26173-BE2A-D669-4D78-467B97847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5B68A-0A1A-BFA5-E115-95A2BEE6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6ADD1-518C-E247-A4DC-3EC88174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73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A6EF8-7498-4F5A-8A13-DD320CBC0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84778-6D17-67DE-EE94-2D2FF38609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F0939-1EE4-AC96-964C-839B4BAB6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2097B-FDBD-450E-3899-3E38C46C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D80548-7217-5276-0418-28EAA6974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78CAE-352C-473E-85FD-A522F0D1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96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D3EFF-5F17-5AD0-FCFF-460D54F7A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4D347-620D-141B-A4F0-F285178BE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1315C-6BB5-4FB2-001A-26C6E2E1A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81639-87A4-3B10-956D-8E685A8B8B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3C4D93-CADC-BE20-3EDC-F58303B365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F27509-AAF7-4132-D673-C099E05EC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7E5DA-D94D-D71B-94C9-637863964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918041-2C7F-2D24-3320-813EE21CE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68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07E9D-2B3B-A6EA-5186-26436F13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2812A-32DD-79B1-B30D-2E7E886B5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B9DCD-D5FE-B62C-0ABC-3B2A0A7A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827CB-8505-6613-DF71-5E25CBD4F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11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9FD0F-FC37-1646-C899-DFB6C1B21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623D8-CE29-FC7B-8EA5-D2130B974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B3E63-6302-7DC4-1C31-379EC808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23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2690-02A6-65A2-62F7-97EBE7F65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BB177-4A01-02AF-4305-BC3EA13FC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AAB20B-F96D-3801-56C3-32E7B6C16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9B384-2336-54B5-F0E0-010292F0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A71CF-DAC2-0870-8EC4-D414D9942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7F415-6219-82AF-E11A-453BE72B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56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4C2E4-47ED-2A01-35D7-D3A16AB8F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767007-A989-DC3E-FC65-0F4F20052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FD60C-C05B-034F-BF65-EB2B4ADB2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AD538-EA7A-FD42-3C03-BDEE23212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69C4B-3F35-CC08-F362-9E9C3730D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C067B-0144-7051-FA5E-98895DFA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0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4C5D5-6479-1EC9-8BEC-5D0A098E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6FD9BC-0223-03AC-2053-DC4D41AFED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0A6AA6-1F83-5884-5A27-2ABB3F34E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A14FD-F498-5A81-2C9F-3CD997D6C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0C227-E22B-6FE7-AB22-6DE4520D5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39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72F0EB-108F-1CEE-C238-E50634901C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FA24BD-3BA2-579E-176E-11A25ACCA7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3D030-0118-992E-80AA-D424A4BD9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2F2F-4BDE-4C58-BFD9-5B7673922D6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0C176-5BE6-1DF6-E1EE-F13EB4302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EEB6A-CAB9-D121-8919-AA4E5CA3D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00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ening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802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pening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574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: Op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5">
            <a:extLst>
              <a:ext uri="{FF2B5EF4-FFF2-40B4-BE49-F238E27FC236}">
                <a16:creationId xmlns:a16="http://schemas.microsoft.com/office/drawing/2014/main" id="{CA867445-3979-40C8-E696-3DAC8529046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60548" y="-138543"/>
            <a:ext cx="6533090" cy="7025783"/>
          </a:xfrm>
          <a:custGeom>
            <a:avLst/>
            <a:gdLst>
              <a:gd name="connsiteX0" fmla="*/ 0 w 6240905"/>
              <a:gd name="connsiteY0" fmla="*/ 3429000 h 6858000"/>
              <a:gd name="connsiteX1" fmla="*/ 3120453 w 6240905"/>
              <a:gd name="connsiteY1" fmla="*/ 0 h 6858000"/>
              <a:gd name="connsiteX2" fmla="*/ 6240906 w 6240905"/>
              <a:gd name="connsiteY2" fmla="*/ 3429000 h 6858000"/>
              <a:gd name="connsiteX3" fmla="*/ 3120453 w 6240905"/>
              <a:gd name="connsiteY3" fmla="*/ 6858000 h 6858000"/>
              <a:gd name="connsiteX4" fmla="*/ 0 w 6240905"/>
              <a:gd name="connsiteY4" fmla="*/ 3429000 h 6858000"/>
              <a:gd name="connsiteX0" fmla="*/ 0 w 6194411"/>
              <a:gd name="connsiteY0" fmla="*/ 3524145 h 7933986"/>
              <a:gd name="connsiteX1" fmla="*/ 3120453 w 6194411"/>
              <a:gd name="connsiteY1" fmla="*/ 95145 h 7933986"/>
              <a:gd name="connsiteX2" fmla="*/ 6194411 w 6194411"/>
              <a:gd name="connsiteY2" fmla="*/ 6949270 h 7933986"/>
              <a:gd name="connsiteX3" fmla="*/ 3120453 w 6194411"/>
              <a:gd name="connsiteY3" fmla="*/ 6953145 h 7933986"/>
              <a:gd name="connsiteX4" fmla="*/ 0 w 6194411"/>
              <a:gd name="connsiteY4" fmla="*/ 3524145 h 7933986"/>
              <a:gd name="connsiteX0" fmla="*/ 65935 w 6715273"/>
              <a:gd name="connsiteY0" fmla="*/ 3503591 h 7913432"/>
              <a:gd name="connsiteX1" fmla="*/ 6255052 w 6715273"/>
              <a:gd name="connsiteY1" fmla="*/ 74591 h 7913432"/>
              <a:gd name="connsiteX2" fmla="*/ 6260346 w 6715273"/>
              <a:gd name="connsiteY2" fmla="*/ 6928716 h 7913432"/>
              <a:gd name="connsiteX3" fmla="*/ 3186388 w 6715273"/>
              <a:gd name="connsiteY3" fmla="*/ 6932591 h 7913432"/>
              <a:gd name="connsiteX4" fmla="*/ 65935 w 6715273"/>
              <a:gd name="connsiteY4" fmla="*/ 3503591 h 7913432"/>
              <a:gd name="connsiteX0" fmla="*/ 65935 w 6715273"/>
              <a:gd name="connsiteY0" fmla="*/ 3503591 h 7913432"/>
              <a:gd name="connsiteX1" fmla="*/ 6255052 w 6715273"/>
              <a:gd name="connsiteY1" fmla="*/ 74591 h 7913432"/>
              <a:gd name="connsiteX2" fmla="*/ 6260346 w 6715273"/>
              <a:gd name="connsiteY2" fmla="*/ 6928716 h 7913432"/>
              <a:gd name="connsiteX3" fmla="*/ 3186388 w 6715273"/>
              <a:gd name="connsiteY3" fmla="*/ 6932591 h 7913432"/>
              <a:gd name="connsiteX4" fmla="*/ 65935 w 6715273"/>
              <a:gd name="connsiteY4" fmla="*/ 3503591 h 7913432"/>
              <a:gd name="connsiteX0" fmla="*/ 65935 w 6295142"/>
              <a:gd name="connsiteY0" fmla="*/ 3503591 h 7913432"/>
              <a:gd name="connsiteX1" fmla="*/ 6255052 w 6295142"/>
              <a:gd name="connsiteY1" fmla="*/ 74591 h 7913432"/>
              <a:gd name="connsiteX2" fmla="*/ 6260346 w 6295142"/>
              <a:gd name="connsiteY2" fmla="*/ 6928716 h 7913432"/>
              <a:gd name="connsiteX3" fmla="*/ 3186388 w 6295142"/>
              <a:gd name="connsiteY3" fmla="*/ 6932591 h 7913432"/>
              <a:gd name="connsiteX4" fmla="*/ 65935 w 6295142"/>
              <a:gd name="connsiteY4" fmla="*/ 3503591 h 7913432"/>
              <a:gd name="connsiteX0" fmla="*/ 66100 w 6314054"/>
              <a:gd name="connsiteY0" fmla="*/ 3503591 h 7804992"/>
              <a:gd name="connsiteX1" fmla="*/ 6255217 w 6314054"/>
              <a:gd name="connsiteY1" fmla="*/ 74591 h 7804992"/>
              <a:gd name="connsiteX2" fmla="*/ 6307006 w 6314054"/>
              <a:gd name="connsiteY2" fmla="*/ 6773733 h 7804992"/>
              <a:gd name="connsiteX3" fmla="*/ 3186553 w 6314054"/>
              <a:gd name="connsiteY3" fmla="*/ 6932591 h 7804992"/>
              <a:gd name="connsiteX4" fmla="*/ 66100 w 6314054"/>
              <a:gd name="connsiteY4" fmla="*/ 3503591 h 7804992"/>
              <a:gd name="connsiteX0" fmla="*/ 66100 w 6314054"/>
              <a:gd name="connsiteY0" fmla="*/ 3503591 h 7327621"/>
              <a:gd name="connsiteX1" fmla="*/ 6255217 w 6314054"/>
              <a:gd name="connsiteY1" fmla="*/ 74591 h 7327621"/>
              <a:gd name="connsiteX2" fmla="*/ 6307006 w 6314054"/>
              <a:gd name="connsiteY2" fmla="*/ 6773733 h 7327621"/>
              <a:gd name="connsiteX3" fmla="*/ 3186553 w 6314054"/>
              <a:gd name="connsiteY3" fmla="*/ 6932591 h 7327621"/>
              <a:gd name="connsiteX4" fmla="*/ 66100 w 6314054"/>
              <a:gd name="connsiteY4" fmla="*/ 3503591 h 7327621"/>
              <a:gd name="connsiteX0" fmla="*/ 66121 w 6317702"/>
              <a:gd name="connsiteY0" fmla="*/ 3503591 h 7414195"/>
              <a:gd name="connsiteX1" fmla="*/ 6255238 w 6317702"/>
              <a:gd name="connsiteY1" fmla="*/ 74591 h 7414195"/>
              <a:gd name="connsiteX2" fmla="*/ 6312965 w 6317702"/>
              <a:gd name="connsiteY2" fmla="*/ 6928112 h 7414195"/>
              <a:gd name="connsiteX3" fmla="*/ 3186574 w 6317702"/>
              <a:gd name="connsiteY3" fmla="*/ 6932591 h 7414195"/>
              <a:gd name="connsiteX4" fmla="*/ 66121 w 6317702"/>
              <a:gd name="connsiteY4" fmla="*/ 3503591 h 7414195"/>
              <a:gd name="connsiteX0" fmla="*/ 66121 w 6317702"/>
              <a:gd name="connsiteY0" fmla="*/ 3503591 h 7184542"/>
              <a:gd name="connsiteX1" fmla="*/ 6255238 w 6317702"/>
              <a:gd name="connsiteY1" fmla="*/ 74591 h 7184542"/>
              <a:gd name="connsiteX2" fmla="*/ 6312965 w 6317702"/>
              <a:gd name="connsiteY2" fmla="*/ 6928112 h 7184542"/>
              <a:gd name="connsiteX3" fmla="*/ 3186574 w 6317702"/>
              <a:gd name="connsiteY3" fmla="*/ 6932591 h 7184542"/>
              <a:gd name="connsiteX4" fmla="*/ 66121 w 6317702"/>
              <a:gd name="connsiteY4" fmla="*/ 3503591 h 7184542"/>
              <a:gd name="connsiteX0" fmla="*/ 67224 w 6333773"/>
              <a:gd name="connsiteY0" fmla="*/ 3474180 h 7155131"/>
              <a:gd name="connsiteX1" fmla="*/ 6286321 w 6333773"/>
              <a:gd name="connsiteY1" fmla="*/ 75160 h 7155131"/>
              <a:gd name="connsiteX2" fmla="*/ 6314068 w 6333773"/>
              <a:gd name="connsiteY2" fmla="*/ 6898701 h 7155131"/>
              <a:gd name="connsiteX3" fmla="*/ 3187677 w 6333773"/>
              <a:gd name="connsiteY3" fmla="*/ 6903180 h 7155131"/>
              <a:gd name="connsiteX4" fmla="*/ 67224 w 6333773"/>
              <a:gd name="connsiteY4" fmla="*/ 3474180 h 7155131"/>
              <a:gd name="connsiteX0" fmla="*/ 68020 w 6348986"/>
              <a:gd name="connsiteY0" fmla="*/ 3505840 h 7186791"/>
              <a:gd name="connsiteX1" fmla="*/ 6308633 w 6348986"/>
              <a:gd name="connsiteY1" fmla="*/ 74547 h 7186791"/>
              <a:gd name="connsiteX2" fmla="*/ 6314864 w 6348986"/>
              <a:gd name="connsiteY2" fmla="*/ 6930361 h 7186791"/>
              <a:gd name="connsiteX3" fmla="*/ 3188473 w 6348986"/>
              <a:gd name="connsiteY3" fmla="*/ 6934840 h 7186791"/>
              <a:gd name="connsiteX4" fmla="*/ 68020 w 6348986"/>
              <a:gd name="connsiteY4" fmla="*/ 3505840 h 7186791"/>
              <a:gd name="connsiteX0" fmla="*/ 68020 w 6348986"/>
              <a:gd name="connsiteY0" fmla="*/ 3431293 h 7112244"/>
              <a:gd name="connsiteX1" fmla="*/ 6308633 w 6348986"/>
              <a:gd name="connsiteY1" fmla="*/ 0 h 7112244"/>
              <a:gd name="connsiteX2" fmla="*/ 6314864 w 6348986"/>
              <a:gd name="connsiteY2" fmla="*/ 6855814 h 7112244"/>
              <a:gd name="connsiteX3" fmla="*/ 3188473 w 6348986"/>
              <a:gd name="connsiteY3" fmla="*/ 6860293 h 7112244"/>
              <a:gd name="connsiteX4" fmla="*/ 68020 w 6348986"/>
              <a:gd name="connsiteY4" fmla="*/ 3431293 h 7112244"/>
              <a:gd name="connsiteX0" fmla="*/ 68020 w 6314864"/>
              <a:gd name="connsiteY0" fmla="*/ 3431293 h 7112244"/>
              <a:gd name="connsiteX1" fmla="*/ 6308633 w 6314864"/>
              <a:gd name="connsiteY1" fmla="*/ 0 h 7112244"/>
              <a:gd name="connsiteX2" fmla="*/ 6314864 w 6314864"/>
              <a:gd name="connsiteY2" fmla="*/ 6855814 h 7112244"/>
              <a:gd name="connsiteX3" fmla="*/ 3188473 w 6314864"/>
              <a:gd name="connsiteY3" fmla="*/ 6860293 h 7112244"/>
              <a:gd name="connsiteX4" fmla="*/ 68020 w 6314864"/>
              <a:gd name="connsiteY4" fmla="*/ 3431293 h 7112244"/>
              <a:gd name="connsiteX0" fmla="*/ 1537672 w 3164390"/>
              <a:gd name="connsiteY0" fmla="*/ 513875 h 7847668"/>
              <a:gd name="connsiteX1" fmla="*/ 3158159 w 3164390"/>
              <a:gd name="connsiteY1" fmla="*/ 483508 h 7847668"/>
              <a:gd name="connsiteX2" fmla="*/ 3164390 w 3164390"/>
              <a:gd name="connsiteY2" fmla="*/ 7339322 h 7847668"/>
              <a:gd name="connsiteX3" fmla="*/ 37999 w 3164390"/>
              <a:gd name="connsiteY3" fmla="*/ 7343801 h 7847668"/>
              <a:gd name="connsiteX4" fmla="*/ 1537672 w 3164390"/>
              <a:gd name="connsiteY4" fmla="*/ 513875 h 7847668"/>
              <a:gd name="connsiteX0" fmla="*/ 4705483 w 6332201"/>
              <a:gd name="connsiteY0" fmla="*/ 510312 h 7808682"/>
              <a:gd name="connsiteX1" fmla="*/ 6325970 w 6332201"/>
              <a:gd name="connsiteY1" fmla="*/ 479945 h 7808682"/>
              <a:gd name="connsiteX2" fmla="*/ 6332201 w 6332201"/>
              <a:gd name="connsiteY2" fmla="*/ 7335759 h 7808682"/>
              <a:gd name="connsiteX3" fmla="*/ 13432 w 6332201"/>
              <a:gd name="connsiteY3" fmla="*/ 7292112 h 7808682"/>
              <a:gd name="connsiteX4" fmla="*/ 4705483 w 6332201"/>
              <a:gd name="connsiteY4" fmla="*/ 510312 h 7808682"/>
              <a:gd name="connsiteX0" fmla="*/ 4705082 w 6331800"/>
              <a:gd name="connsiteY0" fmla="*/ 30367 h 7328737"/>
              <a:gd name="connsiteX1" fmla="*/ 6325569 w 6331800"/>
              <a:gd name="connsiteY1" fmla="*/ 0 h 7328737"/>
              <a:gd name="connsiteX2" fmla="*/ 6331800 w 6331800"/>
              <a:gd name="connsiteY2" fmla="*/ 6855814 h 7328737"/>
              <a:gd name="connsiteX3" fmla="*/ 13031 w 6331800"/>
              <a:gd name="connsiteY3" fmla="*/ 6812167 h 7328737"/>
              <a:gd name="connsiteX4" fmla="*/ 4705082 w 6331800"/>
              <a:gd name="connsiteY4" fmla="*/ 30367 h 7328737"/>
              <a:gd name="connsiteX0" fmla="*/ 5068354 w 6326103"/>
              <a:gd name="connsiteY0" fmla="*/ 0 h 7350060"/>
              <a:gd name="connsiteX1" fmla="*/ 6319872 w 6326103"/>
              <a:gd name="connsiteY1" fmla="*/ 17759 h 7350060"/>
              <a:gd name="connsiteX2" fmla="*/ 6326103 w 6326103"/>
              <a:gd name="connsiteY2" fmla="*/ 6873573 h 7350060"/>
              <a:gd name="connsiteX3" fmla="*/ 7334 w 6326103"/>
              <a:gd name="connsiteY3" fmla="*/ 6829926 h 7350060"/>
              <a:gd name="connsiteX4" fmla="*/ 5068354 w 6326103"/>
              <a:gd name="connsiteY4" fmla="*/ 0 h 7350060"/>
              <a:gd name="connsiteX0" fmla="*/ 5076084 w 6333833"/>
              <a:gd name="connsiteY0" fmla="*/ 0 h 8761595"/>
              <a:gd name="connsiteX1" fmla="*/ 6327602 w 6333833"/>
              <a:gd name="connsiteY1" fmla="*/ 17759 h 8761595"/>
              <a:gd name="connsiteX2" fmla="*/ 6333833 w 6333833"/>
              <a:gd name="connsiteY2" fmla="*/ 6873573 h 8761595"/>
              <a:gd name="connsiteX3" fmla="*/ 15064 w 6333833"/>
              <a:gd name="connsiteY3" fmla="*/ 6829926 h 8761595"/>
              <a:gd name="connsiteX4" fmla="*/ 5076084 w 6333833"/>
              <a:gd name="connsiteY4" fmla="*/ 0 h 8761595"/>
              <a:gd name="connsiteX0" fmla="*/ 5092026 w 6349775"/>
              <a:gd name="connsiteY0" fmla="*/ 0 h 6873573"/>
              <a:gd name="connsiteX1" fmla="*/ 6343544 w 6349775"/>
              <a:gd name="connsiteY1" fmla="*/ 17759 h 6873573"/>
              <a:gd name="connsiteX2" fmla="*/ 6349775 w 6349775"/>
              <a:gd name="connsiteY2" fmla="*/ 6873573 h 6873573"/>
              <a:gd name="connsiteX3" fmla="*/ 31006 w 6349775"/>
              <a:gd name="connsiteY3" fmla="*/ 6829926 h 6873573"/>
              <a:gd name="connsiteX4" fmla="*/ 5092026 w 6349775"/>
              <a:gd name="connsiteY4" fmla="*/ 0 h 6873573"/>
              <a:gd name="connsiteX0" fmla="*/ 5108796 w 6366545"/>
              <a:gd name="connsiteY0" fmla="*/ 506092 h 7400186"/>
              <a:gd name="connsiteX1" fmla="*/ 6360314 w 6366545"/>
              <a:gd name="connsiteY1" fmla="*/ 523851 h 7400186"/>
              <a:gd name="connsiteX2" fmla="*/ 6366545 w 6366545"/>
              <a:gd name="connsiteY2" fmla="*/ 7379665 h 7400186"/>
              <a:gd name="connsiteX3" fmla="*/ 31734 w 6366545"/>
              <a:gd name="connsiteY3" fmla="*/ 7400186 h 7400186"/>
              <a:gd name="connsiteX4" fmla="*/ 5108796 w 6366545"/>
              <a:gd name="connsiteY4" fmla="*/ 506092 h 7400186"/>
              <a:gd name="connsiteX0" fmla="*/ 5195718 w 7623996"/>
              <a:gd name="connsiteY0" fmla="*/ 662943 h 7557037"/>
              <a:gd name="connsiteX1" fmla="*/ 6447236 w 7623996"/>
              <a:gd name="connsiteY1" fmla="*/ 680702 h 7557037"/>
              <a:gd name="connsiteX2" fmla="*/ 6453467 w 7623996"/>
              <a:gd name="connsiteY2" fmla="*/ 7536516 h 7557037"/>
              <a:gd name="connsiteX3" fmla="*/ 118656 w 7623996"/>
              <a:gd name="connsiteY3" fmla="*/ 7557037 h 7557037"/>
              <a:gd name="connsiteX4" fmla="*/ 5195718 w 7623996"/>
              <a:gd name="connsiteY4" fmla="*/ 662943 h 7557037"/>
              <a:gd name="connsiteX0" fmla="*/ 5106933 w 6364682"/>
              <a:gd name="connsiteY0" fmla="*/ 9 h 6894103"/>
              <a:gd name="connsiteX1" fmla="*/ 6358451 w 6364682"/>
              <a:gd name="connsiteY1" fmla="*/ 17768 h 6894103"/>
              <a:gd name="connsiteX2" fmla="*/ 6364682 w 6364682"/>
              <a:gd name="connsiteY2" fmla="*/ 6873582 h 6894103"/>
              <a:gd name="connsiteX3" fmla="*/ 29871 w 6364682"/>
              <a:gd name="connsiteY3" fmla="*/ 6894103 h 6894103"/>
              <a:gd name="connsiteX4" fmla="*/ 5106933 w 6364682"/>
              <a:gd name="connsiteY4" fmla="*/ 9 h 6894103"/>
              <a:gd name="connsiteX0" fmla="*/ 5142166 w 7027356"/>
              <a:gd name="connsiteY0" fmla="*/ 392021 h 7286115"/>
              <a:gd name="connsiteX1" fmla="*/ 6393684 w 7027356"/>
              <a:gd name="connsiteY1" fmla="*/ 409780 h 7286115"/>
              <a:gd name="connsiteX2" fmla="*/ 6399915 w 7027356"/>
              <a:gd name="connsiteY2" fmla="*/ 7265594 h 7286115"/>
              <a:gd name="connsiteX3" fmla="*/ 65104 w 7027356"/>
              <a:gd name="connsiteY3" fmla="*/ 7286115 h 7286115"/>
              <a:gd name="connsiteX4" fmla="*/ 5142166 w 7027356"/>
              <a:gd name="connsiteY4" fmla="*/ 392021 h 7286115"/>
              <a:gd name="connsiteX0" fmla="*/ 5080505 w 6965695"/>
              <a:gd name="connsiteY0" fmla="*/ 392021 h 8368998"/>
              <a:gd name="connsiteX1" fmla="*/ 6332023 w 6965695"/>
              <a:gd name="connsiteY1" fmla="*/ 409780 h 8368998"/>
              <a:gd name="connsiteX2" fmla="*/ 6338254 w 6965695"/>
              <a:gd name="connsiteY2" fmla="*/ 7265594 h 8368998"/>
              <a:gd name="connsiteX3" fmla="*/ 3443 w 6965695"/>
              <a:gd name="connsiteY3" fmla="*/ 7286115 h 8368998"/>
              <a:gd name="connsiteX4" fmla="*/ 5080505 w 6965695"/>
              <a:gd name="connsiteY4" fmla="*/ 392021 h 8368998"/>
              <a:gd name="connsiteX0" fmla="*/ 5375303 w 7161669"/>
              <a:gd name="connsiteY0" fmla="*/ 400371 h 7765388"/>
              <a:gd name="connsiteX1" fmla="*/ 6338063 w 7161669"/>
              <a:gd name="connsiteY1" fmla="*/ 386046 h 7765388"/>
              <a:gd name="connsiteX2" fmla="*/ 6344294 w 7161669"/>
              <a:gd name="connsiteY2" fmla="*/ 7241860 h 7765388"/>
              <a:gd name="connsiteX3" fmla="*/ 9483 w 7161669"/>
              <a:gd name="connsiteY3" fmla="*/ 7262381 h 7765388"/>
              <a:gd name="connsiteX4" fmla="*/ 5375303 w 7161669"/>
              <a:gd name="connsiteY4" fmla="*/ 400371 h 7765388"/>
              <a:gd name="connsiteX0" fmla="*/ 5381301 w 7541295"/>
              <a:gd name="connsiteY0" fmla="*/ 478788 h 7843805"/>
              <a:gd name="connsiteX1" fmla="*/ 6344061 w 7541295"/>
              <a:gd name="connsiteY1" fmla="*/ 464463 h 7843805"/>
              <a:gd name="connsiteX2" fmla="*/ 6350292 w 7541295"/>
              <a:gd name="connsiteY2" fmla="*/ 7320277 h 7843805"/>
              <a:gd name="connsiteX3" fmla="*/ 15481 w 7541295"/>
              <a:gd name="connsiteY3" fmla="*/ 7340798 h 7843805"/>
              <a:gd name="connsiteX4" fmla="*/ 5381301 w 7541295"/>
              <a:gd name="connsiteY4" fmla="*/ 478788 h 7843805"/>
              <a:gd name="connsiteX0" fmla="*/ 5193764 w 6162755"/>
              <a:gd name="connsiteY0" fmla="*/ 510868 h 7840346"/>
              <a:gd name="connsiteX1" fmla="*/ 6156524 w 6162755"/>
              <a:gd name="connsiteY1" fmla="*/ 496543 h 7840346"/>
              <a:gd name="connsiteX2" fmla="*/ 6162755 w 6162755"/>
              <a:gd name="connsiteY2" fmla="*/ 7352357 h 7840346"/>
              <a:gd name="connsiteX3" fmla="*/ 4407 w 6162755"/>
              <a:gd name="connsiteY3" fmla="*/ 7324751 h 7840346"/>
              <a:gd name="connsiteX4" fmla="*/ 5193764 w 6162755"/>
              <a:gd name="connsiteY4" fmla="*/ 510868 h 7840346"/>
              <a:gd name="connsiteX0" fmla="*/ 5189399 w 6158390"/>
              <a:gd name="connsiteY0" fmla="*/ 510868 h 9693989"/>
              <a:gd name="connsiteX1" fmla="*/ 6152159 w 6158390"/>
              <a:gd name="connsiteY1" fmla="*/ 496543 h 9693989"/>
              <a:gd name="connsiteX2" fmla="*/ 6158390 w 6158390"/>
              <a:gd name="connsiteY2" fmla="*/ 7352357 h 9693989"/>
              <a:gd name="connsiteX3" fmla="*/ 42 w 6158390"/>
              <a:gd name="connsiteY3" fmla="*/ 7324751 h 9693989"/>
              <a:gd name="connsiteX4" fmla="*/ 5189399 w 6158390"/>
              <a:gd name="connsiteY4" fmla="*/ 510868 h 9693989"/>
              <a:gd name="connsiteX0" fmla="*/ 5189399 w 6158390"/>
              <a:gd name="connsiteY0" fmla="*/ 14688 h 9197809"/>
              <a:gd name="connsiteX1" fmla="*/ 6152159 w 6158390"/>
              <a:gd name="connsiteY1" fmla="*/ 363 h 9197809"/>
              <a:gd name="connsiteX2" fmla="*/ 6158390 w 6158390"/>
              <a:gd name="connsiteY2" fmla="*/ 6856177 h 9197809"/>
              <a:gd name="connsiteX3" fmla="*/ 42 w 6158390"/>
              <a:gd name="connsiteY3" fmla="*/ 6828571 h 9197809"/>
              <a:gd name="connsiteX4" fmla="*/ 5189399 w 6158390"/>
              <a:gd name="connsiteY4" fmla="*/ 14688 h 9197809"/>
              <a:gd name="connsiteX0" fmla="*/ 5336428 w 6161040"/>
              <a:gd name="connsiteY0" fmla="*/ 14688 h 7344166"/>
              <a:gd name="connsiteX1" fmla="*/ 6154809 w 6161040"/>
              <a:gd name="connsiteY1" fmla="*/ 363 h 7344166"/>
              <a:gd name="connsiteX2" fmla="*/ 6161040 w 6161040"/>
              <a:gd name="connsiteY2" fmla="*/ 6856177 h 7344166"/>
              <a:gd name="connsiteX3" fmla="*/ 2692 w 6161040"/>
              <a:gd name="connsiteY3" fmla="*/ 6828571 h 7344166"/>
              <a:gd name="connsiteX4" fmla="*/ 5336428 w 6161040"/>
              <a:gd name="connsiteY4" fmla="*/ 14688 h 7344166"/>
              <a:gd name="connsiteX0" fmla="*/ 5336275 w 6160887"/>
              <a:gd name="connsiteY0" fmla="*/ 15370 h 7344848"/>
              <a:gd name="connsiteX1" fmla="*/ 6154656 w 6160887"/>
              <a:gd name="connsiteY1" fmla="*/ 1045 h 7344848"/>
              <a:gd name="connsiteX2" fmla="*/ 6160887 w 6160887"/>
              <a:gd name="connsiteY2" fmla="*/ 6856859 h 7344848"/>
              <a:gd name="connsiteX3" fmla="*/ 2539 w 6160887"/>
              <a:gd name="connsiteY3" fmla="*/ 6829253 h 7344848"/>
              <a:gd name="connsiteX4" fmla="*/ 5336275 w 6160887"/>
              <a:gd name="connsiteY4" fmla="*/ 15370 h 7344848"/>
              <a:gd name="connsiteX0" fmla="*/ 5368534 w 6193146"/>
              <a:gd name="connsiteY0" fmla="*/ 15370 h 9112934"/>
              <a:gd name="connsiteX1" fmla="*/ 6186915 w 6193146"/>
              <a:gd name="connsiteY1" fmla="*/ 1045 h 9112934"/>
              <a:gd name="connsiteX2" fmla="*/ 6193146 w 6193146"/>
              <a:gd name="connsiteY2" fmla="*/ 6856859 h 9112934"/>
              <a:gd name="connsiteX3" fmla="*/ 34798 w 6193146"/>
              <a:gd name="connsiteY3" fmla="*/ 6829253 h 9112934"/>
              <a:gd name="connsiteX4" fmla="*/ 5368534 w 6193146"/>
              <a:gd name="connsiteY4" fmla="*/ 15370 h 9112934"/>
              <a:gd name="connsiteX0" fmla="*/ 5333833 w 6158445"/>
              <a:gd name="connsiteY0" fmla="*/ 15370 h 7010034"/>
              <a:gd name="connsiteX1" fmla="*/ 6152214 w 6158445"/>
              <a:gd name="connsiteY1" fmla="*/ 1045 h 7010034"/>
              <a:gd name="connsiteX2" fmla="*/ 6158445 w 6158445"/>
              <a:gd name="connsiteY2" fmla="*/ 6856859 h 7010034"/>
              <a:gd name="connsiteX3" fmla="*/ 97 w 6158445"/>
              <a:gd name="connsiteY3" fmla="*/ 6829253 h 7010034"/>
              <a:gd name="connsiteX4" fmla="*/ 5333833 w 6158445"/>
              <a:gd name="connsiteY4" fmla="*/ 15370 h 7010034"/>
              <a:gd name="connsiteX0" fmla="*/ 5340870 w 6165482"/>
              <a:gd name="connsiteY0" fmla="*/ 15370 h 9269788"/>
              <a:gd name="connsiteX1" fmla="*/ 6159251 w 6165482"/>
              <a:gd name="connsiteY1" fmla="*/ 1045 h 9269788"/>
              <a:gd name="connsiteX2" fmla="*/ 6165482 w 6165482"/>
              <a:gd name="connsiteY2" fmla="*/ 6856859 h 9269788"/>
              <a:gd name="connsiteX3" fmla="*/ 7134 w 6165482"/>
              <a:gd name="connsiteY3" fmla="*/ 6829253 h 9269788"/>
              <a:gd name="connsiteX4" fmla="*/ 5340870 w 6165482"/>
              <a:gd name="connsiteY4" fmla="*/ 15370 h 9269788"/>
              <a:gd name="connsiteX0" fmla="*/ 5340870 w 6165482"/>
              <a:gd name="connsiteY0" fmla="*/ 15370 h 9269788"/>
              <a:gd name="connsiteX1" fmla="*/ 6159251 w 6165482"/>
              <a:gd name="connsiteY1" fmla="*/ 1045 h 9269788"/>
              <a:gd name="connsiteX2" fmla="*/ 6165482 w 6165482"/>
              <a:gd name="connsiteY2" fmla="*/ 6856859 h 9269788"/>
              <a:gd name="connsiteX3" fmla="*/ 7134 w 6165482"/>
              <a:gd name="connsiteY3" fmla="*/ 6829253 h 9269788"/>
              <a:gd name="connsiteX4" fmla="*/ 5340870 w 6165482"/>
              <a:gd name="connsiteY4" fmla="*/ 15370 h 9269788"/>
              <a:gd name="connsiteX0" fmla="*/ 5340870 w 6165482"/>
              <a:gd name="connsiteY0" fmla="*/ 15370 h 9269788"/>
              <a:gd name="connsiteX1" fmla="*/ 6159251 w 6165482"/>
              <a:gd name="connsiteY1" fmla="*/ 1045 h 9269788"/>
              <a:gd name="connsiteX2" fmla="*/ 6165482 w 6165482"/>
              <a:gd name="connsiteY2" fmla="*/ 6856859 h 9269788"/>
              <a:gd name="connsiteX3" fmla="*/ 7134 w 6165482"/>
              <a:gd name="connsiteY3" fmla="*/ 6829253 h 9269788"/>
              <a:gd name="connsiteX4" fmla="*/ 5340870 w 6165482"/>
              <a:gd name="connsiteY4" fmla="*/ 15370 h 9269788"/>
              <a:gd name="connsiteX0" fmla="*/ 5357336 w 6181948"/>
              <a:gd name="connsiteY0" fmla="*/ 15370 h 6856859"/>
              <a:gd name="connsiteX1" fmla="*/ 6175717 w 6181948"/>
              <a:gd name="connsiteY1" fmla="*/ 1045 h 6856859"/>
              <a:gd name="connsiteX2" fmla="*/ 6181948 w 6181948"/>
              <a:gd name="connsiteY2" fmla="*/ 6856859 h 6856859"/>
              <a:gd name="connsiteX3" fmla="*/ 23600 w 6181948"/>
              <a:gd name="connsiteY3" fmla="*/ 6829253 h 6856859"/>
              <a:gd name="connsiteX4" fmla="*/ 5357336 w 6181948"/>
              <a:gd name="connsiteY4" fmla="*/ 15370 h 6856859"/>
              <a:gd name="connsiteX0" fmla="*/ 3959669 w 4784281"/>
              <a:gd name="connsiteY0" fmla="*/ 513202 h 7358596"/>
              <a:gd name="connsiteX1" fmla="*/ 4778050 w 4784281"/>
              <a:gd name="connsiteY1" fmla="*/ 498877 h 7358596"/>
              <a:gd name="connsiteX2" fmla="*/ 4784281 w 4784281"/>
              <a:gd name="connsiteY2" fmla="*/ 7354691 h 7358596"/>
              <a:gd name="connsiteX3" fmla="*/ 37001 w 4784281"/>
              <a:gd name="connsiteY3" fmla="*/ 7358596 h 7358596"/>
              <a:gd name="connsiteX4" fmla="*/ 3959669 w 4784281"/>
              <a:gd name="connsiteY4" fmla="*/ 513202 h 7358596"/>
              <a:gd name="connsiteX0" fmla="*/ 3866361 w 4690973"/>
              <a:gd name="connsiteY0" fmla="*/ 512425 h 7353913"/>
              <a:gd name="connsiteX1" fmla="*/ 4684742 w 4690973"/>
              <a:gd name="connsiteY1" fmla="*/ 498100 h 7353913"/>
              <a:gd name="connsiteX2" fmla="*/ 4690973 w 4690973"/>
              <a:gd name="connsiteY2" fmla="*/ 7353914 h 7353913"/>
              <a:gd name="connsiteX3" fmla="*/ 37764 w 4690973"/>
              <a:gd name="connsiteY3" fmla="*/ 7347316 h 7353913"/>
              <a:gd name="connsiteX4" fmla="*/ 3866361 w 4690973"/>
              <a:gd name="connsiteY4" fmla="*/ 512425 h 7353913"/>
              <a:gd name="connsiteX0" fmla="*/ 339946 w 5387313"/>
              <a:gd name="connsiteY0" fmla="*/ 520885 h 7330863"/>
              <a:gd name="connsiteX1" fmla="*/ 5381082 w 5387313"/>
              <a:gd name="connsiteY1" fmla="*/ 475049 h 7330863"/>
              <a:gd name="connsiteX2" fmla="*/ 5387313 w 5387313"/>
              <a:gd name="connsiteY2" fmla="*/ 7330863 h 7330863"/>
              <a:gd name="connsiteX3" fmla="*/ 734104 w 5387313"/>
              <a:gd name="connsiteY3" fmla="*/ 7324265 h 7330863"/>
              <a:gd name="connsiteX4" fmla="*/ 339946 w 5387313"/>
              <a:gd name="connsiteY4" fmla="*/ 520885 h 7330863"/>
              <a:gd name="connsiteX0" fmla="*/ 15 w 5047382"/>
              <a:gd name="connsiteY0" fmla="*/ 46518 h 6856496"/>
              <a:gd name="connsiteX1" fmla="*/ 5041151 w 5047382"/>
              <a:gd name="connsiteY1" fmla="*/ 682 h 6856496"/>
              <a:gd name="connsiteX2" fmla="*/ 5047382 w 5047382"/>
              <a:gd name="connsiteY2" fmla="*/ 6856496 h 6856496"/>
              <a:gd name="connsiteX3" fmla="*/ 394173 w 5047382"/>
              <a:gd name="connsiteY3" fmla="*/ 6849898 h 6856496"/>
              <a:gd name="connsiteX4" fmla="*/ 15 w 5047382"/>
              <a:gd name="connsiteY4" fmla="*/ 46518 h 6856496"/>
              <a:gd name="connsiteX0" fmla="*/ 14 w 5089191"/>
              <a:gd name="connsiteY0" fmla="*/ 26271 h 6857257"/>
              <a:gd name="connsiteX1" fmla="*/ 5082960 w 5089191"/>
              <a:gd name="connsiteY1" fmla="*/ 1443 h 6857257"/>
              <a:gd name="connsiteX2" fmla="*/ 5089191 w 5089191"/>
              <a:gd name="connsiteY2" fmla="*/ 6857257 h 6857257"/>
              <a:gd name="connsiteX3" fmla="*/ 435982 w 5089191"/>
              <a:gd name="connsiteY3" fmla="*/ 6850659 h 6857257"/>
              <a:gd name="connsiteX4" fmla="*/ 14 w 5089191"/>
              <a:gd name="connsiteY4" fmla="*/ 26271 h 6857257"/>
              <a:gd name="connsiteX0" fmla="*/ 1303549 w 6392726"/>
              <a:gd name="connsiteY0" fmla="*/ 26271 h 6857257"/>
              <a:gd name="connsiteX1" fmla="*/ 6386495 w 6392726"/>
              <a:gd name="connsiteY1" fmla="*/ 1443 h 6857257"/>
              <a:gd name="connsiteX2" fmla="*/ 6392726 w 6392726"/>
              <a:gd name="connsiteY2" fmla="*/ 6857257 h 6857257"/>
              <a:gd name="connsiteX3" fmla="*/ 1739517 w 6392726"/>
              <a:gd name="connsiteY3" fmla="*/ 6850659 h 6857257"/>
              <a:gd name="connsiteX4" fmla="*/ 1303549 w 6392726"/>
              <a:gd name="connsiteY4" fmla="*/ 26271 h 6857257"/>
              <a:gd name="connsiteX0" fmla="*/ 1266992 w 6408430"/>
              <a:gd name="connsiteY0" fmla="*/ 17182 h 6858672"/>
              <a:gd name="connsiteX1" fmla="*/ 6402199 w 6408430"/>
              <a:gd name="connsiteY1" fmla="*/ 2858 h 6858672"/>
              <a:gd name="connsiteX2" fmla="*/ 6408430 w 6408430"/>
              <a:gd name="connsiteY2" fmla="*/ 6858672 h 6858672"/>
              <a:gd name="connsiteX3" fmla="*/ 1755221 w 6408430"/>
              <a:gd name="connsiteY3" fmla="*/ 6852074 h 6858672"/>
              <a:gd name="connsiteX4" fmla="*/ 1266992 w 6408430"/>
              <a:gd name="connsiteY4" fmla="*/ 17182 h 6858672"/>
              <a:gd name="connsiteX0" fmla="*/ 1308526 w 6449964"/>
              <a:gd name="connsiteY0" fmla="*/ 17182 h 6858672"/>
              <a:gd name="connsiteX1" fmla="*/ 6443733 w 6449964"/>
              <a:gd name="connsiteY1" fmla="*/ 2858 h 6858672"/>
              <a:gd name="connsiteX2" fmla="*/ 6449964 w 6449964"/>
              <a:gd name="connsiteY2" fmla="*/ 6858672 h 6858672"/>
              <a:gd name="connsiteX3" fmla="*/ 1796755 w 6449964"/>
              <a:gd name="connsiteY3" fmla="*/ 6852074 h 6858672"/>
              <a:gd name="connsiteX4" fmla="*/ 1308526 w 6449964"/>
              <a:gd name="connsiteY4" fmla="*/ 17182 h 6858672"/>
              <a:gd name="connsiteX0" fmla="*/ 1290065 w 6431503"/>
              <a:gd name="connsiteY0" fmla="*/ 17182 h 6858672"/>
              <a:gd name="connsiteX1" fmla="*/ 6425272 w 6431503"/>
              <a:gd name="connsiteY1" fmla="*/ 2858 h 6858672"/>
              <a:gd name="connsiteX2" fmla="*/ 6431503 w 6431503"/>
              <a:gd name="connsiteY2" fmla="*/ 6858672 h 6858672"/>
              <a:gd name="connsiteX3" fmla="*/ 1778294 w 6431503"/>
              <a:gd name="connsiteY3" fmla="*/ 6852074 h 6858672"/>
              <a:gd name="connsiteX4" fmla="*/ 1290065 w 6431503"/>
              <a:gd name="connsiteY4" fmla="*/ 17182 h 6858672"/>
              <a:gd name="connsiteX0" fmla="*/ 1326657 w 6415833"/>
              <a:gd name="connsiteY0" fmla="*/ 17182 h 6858672"/>
              <a:gd name="connsiteX1" fmla="*/ 6409602 w 6415833"/>
              <a:gd name="connsiteY1" fmla="*/ 2858 h 6858672"/>
              <a:gd name="connsiteX2" fmla="*/ 6415833 w 6415833"/>
              <a:gd name="connsiteY2" fmla="*/ 6858672 h 6858672"/>
              <a:gd name="connsiteX3" fmla="*/ 1762624 w 6415833"/>
              <a:gd name="connsiteY3" fmla="*/ 6852074 h 6858672"/>
              <a:gd name="connsiteX4" fmla="*/ 1326657 w 6415833"/>
              <a:gd name="connsiteY4" fmla="*/ 17182 h 6858672"/>
              <a:gd name="connsiteX0" fmla="*/ 1372880 w 6462056"/>
              <a:gd name="connsiteY0" fmla="*/ 17182 h 6858672"/>
              <a:gd name="connsiteX1" fmla="*/ 6455825 w 6462056"/>
              <a:gd name="connsiteY1" fmla="*/ 2858 h 6858672"/>
              <a:gd name="connsiteX2" fmla="*/ 6462056 w 6462056"/>
              <a:gd name="connsiteY2" fmla="*/ 6858672 h 6858672"/>
              <a:gd name="connsiteX3" fmla="*/ 1808847 w 6462056"/>
              <a:gd name="connsiteY3" fmla="*/ 6852074 h 6858672"/>
              <a:gd name="connsiteX4" fmla="*/ 1372880 w 6462056"/>
              <a:gd name="connsiteY4" fmla="*/ 17182 h 6858672"/>
              <a:gd name="connsiteX0" fmla="*/ 1598052 w 6687228"/>
              <a:gd name="connsiteY0" fmla="*/ 513202 h 7358597"/>
              <a:gd name="connsiteX1" fmla="*/ 6680997 w 6687228"/>
              <a:gd name="connsiteY1" fmla="*/ 498878 h 7358597"/>
              <a:gd name="connsiteX2" fmla="*/ 6687228 w 6687228"/>
              <a:gd name="connsiteY2" fmla="*/ 7354692 h 7358597"/>
              <a:gd name="connsiteX3" fmla="*/ 2013114 w 6687228"/>
              <a:gd name="connsiteY3" fmla="*/ 7358597 h 7358597"/>
              <a:gd name="connsiteX4" fmla="*/ 1598052 w 6687228"/>
              <a:gd name="connsiteY4" fmla="*/ 513202 h 7358597"/>
              <a:gd name="connsiteX0" fmla="*/ 1444829 w 6534005"/>
              <a:gd name="connsiteY0" fmla="*/ 513202 h 7358597"/>
              <a:gd name="connsiteX1" fmla="*/ 6527774 w 6534005"/>
              <a:gd name="connsiteY1" fmla="*/ 498878 h 7358597"/>
              <a:gd name="connsiteX2" fmla="*/ 6534005 w 6534005"/>
              <a:gd name="connsiteY2" fmla="*/ 7354692 h 7358597"/>
              <a:gd name="connsiteX3" fmla="*/ 1859891 w 6534005"/>
              <a:gd name="connsiteY3" fmla="*/ 7358597 h 7358597"/>
              <a:gd name="connsiteX4" fmla="*/ 1444829 w 6534005"/>
              <a:gd name="connsiteY4" fmla="*/ 513202 h 7358597"/>
              <a:gd name="connsiteX0" fmla="*/ 1411597 w 6553035"/>
              <a:gd name="connsiteY0" fmla="*/ 507711 h 7374113"/>
              <a:gd name="connsiteX1" fmla="*/ 6546804 w 6553035"/>
              <a:gd name="connsiteY1" fmla="*/ 514394 h 7374113"/>
              <a:gd name="connsiteX2" fmla="*/ 6553035 w 6553035"/>
              <a:gd name="connsiteY2" fmla="*/ 7370208 h 7374113"/>
              <a:gd name="connsiteX3" fmla="*/ 1878921 w 6553035"/>
              <a:gd name="connsiteY3" fmla="*/ 7374113 h 7374113"/>
              <a:gd name="connsiteX4" fmla="*/ 1411597 w 6553035"/>
              <a:gd name="connsiteY4" fmla="*/ 507711 h 7374113"/>
              <a:gd name="connsiteX0" fmla="*/ 1282417 w 6423855"/>
              <a:gd name="connsiteY0" fmla="*/ 507711 h 7374113"/>
              <a:gd name="connsiteX1" fmla="*/ 6417624 w 6423855"/>
              <a:gd name="connsiteY1" fmla="*/ 514394 h 7374113"/>
              <a:gd name="connsiteX2" fmla="*/ 6423855 w 6423855"/>
              <a:gd name="connsiteY2" fmla="*/ 7370208 h 7374113"/>
              <a:gd name="connsiteX3" fmla="*/ 1749741 w 6423855"/>
              <a:gd name="connsiteY3" fmla="*/ 7374113 h 7374113"/>
              <a:gd name="connsiteX4" fmla="*/ 1282417 w 6423855"/>
              <a:gd name="connsiteY4" fmla="*/ 507711 h 7374113"/>
              <a:gd name="connsiteX0" fmla="*/ 1231052 w 6456108"/>
              <a:gd name="connsiteY0" fmla="*/ 524542 h 7327923"/>
              <a:gd name="connsiteX1" fmla="*/ 6449877 w 6456108"/>
              <a:gd name="connsiteY1" fmla="*/ 468204 h 7327923"/>
              <a:gd name="connsiteX2" fmla="*/ 6456108 w 6456108"/>
              <a:gd name="connsiteY2" fmla="*/ 7324018 h 7327923"/>
              <a:gd name="connsiteX3" fmla="*/ 1781994 w 6456108"/>
              <a:gd name="connsiteY3" fmla="*/ 7327923 h 7327923"/>
              <a:gd name="connsiteX4" fmla="*/ 1231052 w 6456108"/>
              <a:gd name="connsiteY4" fmla="*/ 524542 h 7327923"/>
              <a:gd name="connsiteX0" fmla="*/ 1201793 w 6426849"/>
              <a:gd name="connsiteY0" fmla="*/ 65914 h 6869295"/>
              <a:gd name="connsiteX1" fmla="*/ 6420618 w 6426849"/>
              <a:gd name="connsiteY1" fmla="*/ 9576 h 6869295"/>
              <a:gd name="connsiteX2" fmla="*/ 6426849 w 6426849"/>
              <a:gd name="connsiteY2" fmla="*/ 6865390 h 6869295"/>
              <a:gd name="connsiteX3" fmla="*/ 1752735 w 6426849"/>
              <a:gd name="connsiteY3" fmla="*/ 6869295 h 6869295"/>
              <a:gd name="connsiteX4" fmla="*/ 1201793 w 6426849"/>
              <a:gd name="connsiteY4" fmla="*/ 65914 h 6869295"/>
              <a:gd name="connsiteX0" fmla="*/ 1273686 w 6383766"/>
              <a:gd name="connsiteY0" fmla="*/ 60010 h 6873894"/>
              <a:gd name="connsiteX1" fmla="*/ 6377535 w 6383766"/>
              <a:gd name="connsiteY1" fmla="*/ 14175 h 6873894"/>
              <a:gd name="connsiteX2" fmla="*/ 6383766 w 6383766"/>
              <a:gd name="connsiteY2" fmla="*/ 6869989 h 6873894"/>
              <a:gd name="connsiteX3" fmla="*/ 1709652 w 6383766"/>
              <a:gd name="connsiteY3" fmla="*/ 6873894 h 6873894"/>
              <a:gd name="connsiteX4" fmla="*/ 1273686 w 6383766"/>
              <a:gd name="connsiteY4" fmla="*/ 60010 h 6873894"/>
              <a:gd name="connsiteX0" fmla="*/ 1289318 w 6399398"/>
              <a:gd name="connsiteY0" fmla="*/ 48334 h 6862218"/>
              <a:gd name="connsiteX1" fmla="*/ 6393167 w 6399398"/>
              <a:gd name="connsiteY1" fmla="*/ 2499 h 6862218"/>
              <a:gd name="connsiteX2" fmla="*/ 6399398 w 6399398"/>
              <a:gd name="connsiteY2" fmla="*/ 6858313 h 6862218"/>
              <a:gd name="connsiteX3" fmla="*/ 1725284 w 6399398"/>
              <a:gd name="connsiteY3" fmla="*/ 6862218 h 6862218"/>
              <a:gd name="connsiteX4" fmla="*/ 1289318 w 6399398"/>
              <a:gd name="connsiteY4" fmla="*/ 48334 h 6862218"/>
              <a:gd name="connsiteX0" fmla="*/ 1342380 w 6368841"/>
              <a:gd name="connsiteY0" fmla="*/ 22230 h 6888631"/>
              <a:gd name="connsiteX1" fmla="*/ 6362610 w 6368841"/>
              <a:gd name="connsiteY1" fmla="*/ 28912 h 6888631"/>
              <a:gd name="connsiteX2" fmla="*/ 6368841 w 6368841"/>
              <a:gd name="connsiteY2" fmla="*/ 6884726 h 6888631"/>
              <a:gd name="connsiteX3" fmla="*/ 1694727 w 6368841"/>
              <a:gd name="connsiteY3" fmla="*/ 6888631 h 6888631"/>
              <a:gd name="connsiteX4" fmla="*/ 1342380 w 6368841"/>
              <a:gd name="connsiteY4" fmla="*/ 22230 h 6888631"/>
              <a:gd name="connsiteX0" fmla="*/ 1345446 w 6371907"/>
              <a:gd name="connsiteY0" fmla="*/ 17566 h 6883967"/>
              <a:gd name="connsiteX1" fmla="*/ 6365676 w 6371907"/>
              <a:gd name="connsiteY1" fmla="*/ 24248 h 6883967"/>
              <a:gd name="connsiteX2" fmla="*/ 6371907 w 6371907"/>
              <a:gd name="connsiteY2" fmla="*/ 6880062 h 6883967"/>
              <a:gd name="connsiteX3" fmla="*/ 1697793 w 6371907"/>
              <a:gd name="connsiteY3" fmla="*/ 6883967 h 6883967"/>
              <a:gd name="connsiteX4" fmla="*/ 1345446 w 6371907"/>
              <a:gd name="connsiteY4" fmla="*/ 17566 h 6883967"/>
              <a:gd name="connsiteX0" fmla="*/ 1408436 w 6434897"/>
              <a:gd name="connsiteY0" fmla="*/ 17566 h 6883967"/>
              <a:gd name="connsiteX1" fmla="*/ 6428666 w 6434897"/>
              <a:gd name="connsiteY1" fmla="*/ 24248 h 6883967"/>
              <a:gd name="connsiteX2" fmla="*/ 6434897 w 6434897"/>
              <a:gd name="connsiteY2" fmla="*/ 6880062 h 6883967"/>
              <a:gd name="connsiteX3" fmla="*/ 1760783 w 6434897"/>
              <a:gd name="connsiteY3" fmla="*/ 6883967 h 6883967"/>
              <a:gd name="connsiteX4" fmla="*/ 1408436 w 6434897"/>
              <a:gd name="connsiteY4" fmla="*/ 17566 h 6883967"/>
              <a:gd name="connsiteX0" fmla="*/ 1369512 w 6395973"/>
              <a:gd name="connsiteY0" fmla="*/ 45564 h 6911965"/>
              <a:gd name="connsiteX1" fmla="*/ 6389742 w 6395973"/>
              <a:gd name="connsiteY1" fmla="*/ 52246 h 6911965"/>
              <a:gd name="connsiteX2" fmla="*/ 6395973 w 6395973"/>
              <a:gd name="connsiteY2" fmla="*/ 6908060 h 6911965"/>
              <a:gd name="connsiteX3" fmla="*/ 1721859 w 6395973"/>
              <a:gd name="connsiteY3" fmla="*/ 6911965 h 6911965"/>
              <a:gd name="connsiteX4" fmla="*/ 1369512 w 6395973"/>
              <a:gd name="connsiteY4" fmla="*/ 45564 h 6911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5973" h="6911965">
                <a:moveTo>
                  <a:pt x="1369512" y="45564"/>
                </a:moveTo>
                <a:cubicBezTo>
                  <a:pt x="1980254" y="-57878"/>
                  <a:pt x="5972569" y="46326"/>
                  <a:pt x="6389742" y="52246"/>
                </a:cubicBezTo>
                <a:cubicBezTo>
                  <a:pt x="6396065" y="4037468"/>
                  <a:pt x="6395973" y="5014276"/>
                  <a:pt x="6395973" y="6908060"/>
                </a:cubicBezTo>
                <a:lnTo>
                  <a:pt x="1721859" y="6911965"/>
                </a:lnTo>
                <a:cubicBezTo>
                  <a:pt x="-1569073" y="4246784"/>
                  <a:pt x="758770" y="149006"/>
                  <a:pt x="1369512" y="45564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2313007-C611-79B3-9A6C-6B94BEEFAE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222" y="3643742"/>
            <a:ext cx="5007324" cy="57297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Montserrat" pitchFamily="2" charset="77"/>
                <a:cs typeface="Montserrat" pitchFamily="2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Date or Name Here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56A27DB-F52D-CA5D-9C8D-E185BEC3B9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222" y="517176"/>
            <a:ext cx="5007324" cy="3140421"/>
          </a:xfrm>
          <a:prstGeom prst="rect">
            <a:avLst/>
          </a:prstGeom>
        </p:spPr>
        <p:txBody>
          <a:bodyPr anchor="t"/>
          <a:lstStyle>
            <a:lvl1pPr algn="l">
              <a:defRPr sz="5400" b="1" i="0">
                <a:solidFill>
                  <a:schemeClr val="tx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Goes</a:t>
            </a:r>
            <a:br>
              <a:rPr lang="en-US" dirty="0"/>
            </a:br>
            <a:r>
              <a:rPr lang="en-US" dirty="0"/>
              <a:t>here…</a:t>
            </a:r>
            <a:br>
              <a:rPr lang="en-US" dirty="0"/>
            </a:br>
            <a:r>
              <a:rPr lang="en-US" dirty="0"/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7228874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yond_Earth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62745A3-801F-B445-4B1F-9C39958DB3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221" y="4245814"/>
            <a:ext cx="8764123" cy="57297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Montserrat" pitchFamily="2" charset="77"/>
                <a:cs typeface="Montserrat" pitchFamily="2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Date or Name Here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A6A044D-45D6-34EF-3242-58F0106130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221" y="517176"/>
            <a:ext cx="8764123" cy="3056341"/>
          </a:xfrm>
          <a:prstGeom prst="rect">
            <a:avLst/>
          </a:prstGeom>
        </p:spPr>
        <p:txBody>
          <a:bodyPr anchor="t"/>
          <a:lstStyle>
            <a:lvl1pPr algn="l">
              <a:defRPr sz="5400" b="1" i="0">
                <a:solidFill>
                  <a:schemeClr val="tx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Goes</a:t>
            </a:r>
            <a:br>
              <a:rPr lang="en-US" dirty="0"/>
            </a:br>
            <a:r>
              <a:rPr lang="en-US" dirty="0"/>
              <a:t>here and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037936-8EF2-A5CB-4087-42C96BE9E7E7}"/>
              </a:ext>
            </a:extLst>
          </p:cNvPr>
          <p:cNvCxnSpPr>
            <a:cxnSpLocks/>
          </p:cNvCxnSpPr>
          <p:nvPr userDrawn="1"/>
        </p:nvCxnSpPr>
        <p:spPr>
          <a:xfrm>
            <a:off x="614278" y="3862820"/>
            <a:ext cx="1343543" cy="0"/>
          </a:xfrm>
          <a:prstGeom prst="line">
            <a:avLst/>
          </a:prstGeom>
          <a:ln w="69850" cap="rnd">
            <a:solidFill>
              <a:schemeClr val="accent2"/>
            </a:solidFill>
            <a:rou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73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yond_Earth_Body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CA96-734D-704D-A9CA-6E41CCE5D0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026" y="281289"/>
            <a:ext cx="8939193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i="0" cap="none" spc="-150" baseline="0">
                <a:solidFill>
                  <a:schemeClr val="accent2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37949C-F84E-0942-9DCB-FD1FE5FE1D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8027" y="1617963"/>
            <a:ext cx="8430213" cy="3912504"/>
          </a:xfrm>
          <a:prstGeom prst="rect">
            <a:avLst/>
          </a:prstGeom>
          <a:noFill/>
        </p:spPr>
        <p:txBody>
          <a:bodyPr/>
          <a:lstStyle>
            <a:lvl1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1pPr>
            <a:lvl2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2pPr>
            <a:lvl3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3pPr>
            <a:lvl4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4pPr>
            <a:lvl5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6237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yond_Earth_BodyContent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CA96-734D-704D-A9CA-6E41CCE5D0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026" y="281289"/>
            <a:ext cx="8939193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i="0" cap="none" spc="-150" baseline="0">
                <a:solidFill>
                  <a:schemeClr val="bg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37949C-F84E-0942-9DCB-FD1FE5FE1D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8027" y="1617963"/>
            <a:ext cx="7979109" cy="3912504"/>
          </a:xfrm>
          <a:prstGeom prst="rect">
            <a:avLst/>
          </a:prstGeom>
          <a:noFill/>
        </p:spPr>
        <p:txBody>
          <a:bodyPr/>
          <a:lstStyle>
            <a:lvl1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1pPr>
            <a:lvl2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2pPr>
            <a:lvl3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3pPr>
            <a:lvl4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4pPr>
            <a:lvl5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25982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arth_Covering_Body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1B481C8-D9C5-BA48-31AF-A1508A4BC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027" y="281289"/>
            <a:ext cx="8235142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i="0" cap="none" spc="-150" baseline="0">
                <a:solidFill>
                  <a:schemeClr val="bg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D157E6A-5D5A-1F80-D102-1749163944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8027" y="1617963"/>
            <a:ext cx="8759397" cy="3912504"/>
          </a:xfrm>
          <a:prstGeom prst="rect">
            <a:avLst/>
          </a:prstGeom>
          <a:noFill/>
        </p:spPr>
        <p:txBody>
          <a:bodyPr/>
          <a:lstStyle>
            <a:lvl1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1pPr>
            <a:lvl2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2pPr>
            <a:lvl3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3pPr>
            <a:lvl4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4pPr>
            <a:lvl5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2723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arth_Covering_Title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D0C1218-5FFC-6F70-6907-35245526DD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221" y="4245814"/>
            <a:ext cx="8764123" cy="57297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Montserrat" pitchFamily="2" charset="77"/>
                <a:cs typeface="Montserrat" pitchFamily="2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Date or Name Here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DD5D9977-8C8E-D229-40BC-57CE02A221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221" y="517176"/>
            <a:ext cx="8764123" cy="3056341"/>
          </a:xfrm>
          <a:prstGeom prst="rect">
            <a:avLst/>
          </a:prstGeom>
        </p:spPr>
        <p:txBody>
          <a:bodyPr anchor="t"/>
          <a:lstStyle>
            <a:lvl1pPr algn="l">
              <a:defRPr sz="5400" b="1" i="0">
                <a:solidFill>
                  <a:schemeClr val="tx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Goes</a:t>
            </a:r>
            <a:br>
              <a:rPr lang="en-US" dirty="0"/>
            </a:br>
            <a:r>
              <a:rPr lang="en-US" dirty="0"/>
              <a:t>here and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99CC5B-9FBB-52AB-903D-27F75489AF65}"/>
              </a:ext>
            </a:extLst>
          </p:cNvPr>
          <p:cNvCxnSpPr>
            <a:cxnSpLocks/>
          </p:cNvCxnSpPr>
          <p:nvPr userDrawn="1"/>
        </p:nvCxnSpPr>
        <p:spPr>
          <a:xfrm>
            <a:off x="614278" y="3862820"/>
            <a:ext cx="1343543" cy="0"/>
          </a:xfrm>
          <a:prstGeom prst="line">
            <a:avLst/>
          </a:prstGeom>
          <a:ln w="69850" cap="rnd">
            <a:solidFill>
              <a:schemeClr val="accent3"/>
            </a:solidFill>
            <a:rou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664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arth_Covering_BodyContent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03D1B60-15DD-30AB-7E79-2CDAA87EA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026" y="281289"/>
            <a:ext cx="8939193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i="0" cap="none" spc="-150" baseline="0">
                <a:solidFill>
                  <a:schemeClr val="accent3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11BFA08-C61B-E8E9-8732-A662CB8204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8027" y="1617963"/>
            <a:ext cx="8430213" cy="3912504"/>
          </a:xfrm>
          <a:prstGeom prst="rect">
            <a:avLst/>
          </a:prstGeom>
          <a:noFill/>
        </p:spPr>
        <p:txBody>
          <a:bodyPr/>
          <a:lstStyle>
            <a:lvl1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1pPr>
            <a:lvl2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2pPr>
            <a:lvl3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3pPr>
            <a:lvl4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4pPr>
            <a:lvl5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985849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arth_Interior_Body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F591741-43AE-1BF1-3480-A32EF1342C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026" y="281289"/>
            <a:ext cx="8939193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i="0" cap="none" spc="-150" baseline="0">
                <a:solidFill>
                  <a:schemeClr val="bg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2D48C4A-4AD5-56F4-E6C5-F5B6D2CA46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8027" y="1617963"/>
            <a:ext cx="7979109" cy="3912504"/>
          </a:xfrm>
          <a:prstGeom prst="rect">
            <a:avLst/>
          </a:prstGeom>
          <a:noFill/>
        </p:spPr>
        <p:txBody>
          <a:bodyPr/>
          <a:lstStyle>
            <a:lvl1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1pPr>
            <a:lvl2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2pPr>
            <a:lvl3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3pPr>
            <a:lvl4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4pPr>
            <a:lvl5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379262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arth_Interior_BodyContent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51E2003-998B-CC39-1F99-214971AFC7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027" y="281289"/>
            <a:ext cx="8235142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i="0" cap="none" spc="-150" baseline="0">
                <a:solidFill>
                  <a:schemeClr val="bg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0745A56-D576-F5D6-E3E9-A45AC81E0D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8027" y="1617963"/>
            <a:ext cx="8759397" cy="3912504"/>
          </a:xfrm>
          <a:prstGeom prst="rect">
            <a:avLst/>
          </a:prstGeom>
          <a:noFill/>
        </p:spPr>
        <p:txBody>
          <a:bodyPr/>
          <a:lstStyle>
            <a:lvl1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1pPr>
            <a:lvl2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2pPr>
            <a:lvl3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3pPr>
            <a:lvl4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4pPr>
            <a:lvl5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6313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arth_Interior_Title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2915A2E-5DC3-8630-6D68-D391AA14DC8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221" y="4245814"/>
            <a:ext cx="8764123" cy="57297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Montserrat" pitchFamily="2" charset="77"/>
                <a:cs typeface="Montserrat" pitchFamily="2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Date or Name Here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A3DB44CB-7B7D-B081-3CF0-383F9E66E2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221" y="517176"/>
            <a:ext cx="8764123" cy="3056341"/>
          </a:xfrm>
          <a:prstGeom prst="rect">
            <a:avLst/>
          </a:prstGeom>
        </p:spPr>
        <p:txBody>
          <a:bodyPr anchor="t"/>
          <a:lstStyle>
            <a:lvl1pPr algn="l">
              <a:defRPr sz="5400" b="1" i="0">
                <a:solidFill>
                  <a:schemeClr val="tx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Goes</a:t>
            </a:r>
            <a:br>
              <a:rPr lang="en-US" dirty="0"/>
            </a:br>
            <a:r>
              <a:rPr lang="en-US" dirty="0"/>
              <a:t>here and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B63910-388E-AA5E-E18D-1F0BA7414246}"/>
              </a:ext>
            </a:extLst>
          </p:cNvPr>
          <p:cNvCxnSpPr>
            <a:cxnSpLocks/>
          </p:cNvCxnSpPr>
          <p:nvPr userDrawn="1"/>
        </p:nvCxnSpPr>
        <p:spPr>
          <a:xfrm>
            <a:off x="614278" y="3862820"/>
            <a:ext cx="1343543" cy="0"/>
          </a:xfrm>
          <a:prstGeom prst="line">
            <a:avLst/>
          </a:prstGeom>
          <a:ln w="69850" cap="rnd">
            <a:solidFill>
              <a:schemeClr val="accent4"/>
            </a:solidFill>
            <a:rou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22584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cience_Nexus_Body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808C58A-BF9D-694E-42AD-42F4505DD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026" y="281289"/>
            <a:ext cx="8939193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i="0" cap="none" spc="-150" baseline="0">
                <a:solidFill>
                  <a:schemeClr val="accent4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D15EC57-4AD1-0F2B-4FD0-1FA1B9AB3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8027" y="1617963"/>
            <a:ext cx="8430213" cy="3912504"/>
          </a:xfrm>
          <a:prstGeom prst="rect">
            <a:avLst/>
          </a:prstGeom>
          <a:noFill/>
        </p:spPr>
        <p:txBody>
          <a:bodyPr/>
          <a:lstStyle>
            <a:lvl1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1pPr>
            <a:lvl2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2pPr>
            <a:lvl3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3pPr>
            <a:lvl4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4pPr>
            <a:lvl5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47444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cience_Nexus_BodyContent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D8DAA16-6780-1D3E-CB45-7B4A686A8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026" y="281289"/>
            <a:ext cx="8939193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i="0" cap="none" spc="-150" baseline="0">
                <a:solidFill>
                  <a:schemeClr val="bg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32BF7FA-8723-7B8F-1299-B863E916C7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8027" y="1617963"/>
            <a:ext cx="7979109" cy="3912504"/>
          </a:xfrm>
          <a:prstGeom prst="rect">
            <a:avLst/>
          </a:prstGeom>
          <a:noFill/>
        </p:spPr>
        <p:txBody>
          <a:bodyPr/>
          <a:lstStyle>
            <a:lvl1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1pPr>
            <a:lvl2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2pPr>
            <a:lvl3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3pPr>
            <a:lvl4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4pPr>
            <a:lvl5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76830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_Body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154CD26-7FB0-35C3-8C43-964A7DF149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027" y="281289"/>
            <a:ext cx="8235142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i="0" cap="none" spc="-150" baseline="0">
                <a:solidFill>
                  <a:schemeClr val="bg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239D77D-F8E0-7BE0-6467-FF523F6CB8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8027" y="1617963"/>
            <a:ext cx="8759397" cy="3912504"/>
          </a:xfrm>
          <a:prstGeom prst="rect">
            <a:avLst/>
          </a:prstGeom>
          <a:noFill/>
        </p:spPr>
        <p:txBody>
          <a:bodyPr/>
          <a:lstStyle>
            <a:lvl1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1pPr>
            <a:lvl2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2pPr>
            <a:lvl3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3pPr>
            <a:lvl4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4pPr>
            <a:lvl5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774647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cience_Nexus_Title_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B672753-9D18-C867-406F-7FEDD5BEFE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221" y="4245814"/>
            <a:ext cx="8764123" cy="57297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Montserrat" pitchFamily="2" charset="77"/>
                <a:cs typeface="Montserrat" pitchFamily="2" charset="77"/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Date or Name Here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B3307EFA-C786-EC4D-8D3C-094DB71A1C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221" y="517176"/>
            <a:ext cx="8764123" cy="3056341"/>
          </a:xfrm>
          <a:prstGeom prst="rect">
            <a:avLst/>
          </a:prstGeom>
        </p:spPr>
        <p:txBody>
          <a:bodyPr anchor="t"/>
          <a:lstStyle>
            <a:lvl1pPr algn="l">
              <a:defRPr sz="5400" b="1" i="0">
                <a:solidFill>
                  <a:schemeClr val="tx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Goes</a:t>
            </a:r>
            <a:br>
              <a:rPr lang="en-US" dirty="0"/>
            </a:br>
            <a:r>
              <a:rPr lang="en-US" dirty="0"/>
              <a:t>here and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F0F08E5-350F-26CB-08AA-E5B64D0CE4BC}"/>
              </a:ext>
            </a:extLst>
          </p:cNvPr>
          <p:cNvCxnSpPr>
            <a:cxnSpLocks/>
          </p:cNvCxnSpPr>
          <p:nvPr userDrawn="1"/>
        </p:nvCxnSpPr>
        <p:spPr>
          <a:xfrm>
            <a:off x="614278" y="3862820"/>
            <a:ext cx="1343543" cy="0"/>
          </a:xfrm>
          <a:prstGeom prst="line">
            <a:avLst/>
          </a:prstGeom>
          <a:ln w="69850" cap="rnd">
            <a:solidFill>
              <a:schemeClr val="accent2"/>
            </a:solidFill>
            <a:rou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7786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_Body Content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C647C49-B8E8-BADA-6207-D0B52EF02B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027" y="281289"/>
            <a:ext cx="6031752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i="0" cap="none" spc="-150" baseline="0">
                <a:solidFill>
                  <a:schemeClr val="tx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74D2BFDE-40E7-CFA6-227C-7F3E9B6B3D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8028" y="1617963"/>
            <a:ext cx="6031752" cy="4057623"/>
          </a:xfrm>
          <a:prstGeom prst="rect">
            <a:avLst/>
          </a:prstGeom>
          <a:noFill/>
        </p:spPr>
        <p:txBody>
          <a:bodyPr/>
          <a:lstStyle>
            <a:lvl1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1pPr>
            <a:lvl2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2pPr>
            <a:lvl3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3pPr>
            <a:lvl4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4pPr>
            <a:lvl5pPr>
              <a:defRPr sz="2400" b="0" i="0">
                <a:ln>
                  <a:noFill/>
                </a:ln>
                <a:solidFill>
                  <a:schemeClr val="tx1"/>
                </a:solidFill>
                <a:effectLst/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Picture Placeholder 33">
            <a:extLst>
              <a:ext uri="{FF2B5EF4-FFF2-40B4-BE49-F238E27FC236}">
                <a16:creationId xmlns:a16="http://schemas.microsoft.com/office/drawing/2014/main" id="{7E1D5E89-B259-6472-3426-79F9E55E4F47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599260" y="281289"/>
            <a:ext cx="5244713" cy="5244713"/>
          </a:xfrm>
          <a:prstGeom prst="ellipse">
            <a:avLst/>
          </a:prstGeom>
          <a:solidFill>
            <a:schemeClr val="tx1">
              <a:lumMod val="90000"/>
            </a:schemeClr>
          </a:solidFill>
          <a:ln w="12700"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133">
                <a:solidFill>
                  <a:srgbClr val="BFBFBF"/>
                </a:solidFill>
              </a:defRPr>
            </a:lvl1pPr>
          </a:lstStyle>
          <a:p>
            <a:r>
              <a:rPr lang="en-US" dirty="0"/>
              <a:t>[Insert Photo Here]</a:t>
            </a:r>
          </a:p>
        </p:txBody>
      </p:sp>
    </p:spTree>
    <p:extLst>
      <p:ext uri="{BB962C8B-B14F-4D97-AF65-F5344CB8AC3E}">
        <p14:creationId xmlns:p14="http://schemas.microsoft.com/office/powerpoint/2010/main" val="31855508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_Body Content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CA96-734D-704D-A9CA-6E41CCE5D0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026" y="281289"/>
            <a:ext cx="11453829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i="0" cap="none" spc="-150" baseline="0">
                <a:solidFill>
                  <a:schemeClr val="bg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37949C-F84E-0942-9DCB-FD1FE5FE1D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8027" y="1617963"/>
            <a:ext cx="11453828" cy="3563637"/>
          </a:xfrm>
          <a:prstGeom prst="rect">
            <a:avLst/>
          </a:prstGeom>
          <a:noFill/>
        </p:spPr>
        <p:txBody>
          <a:bodyPr/>
          <a:lstStyle>
            <a:lvl1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1pPr>
            <a:lvl2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2pPr>
            <a:lvl3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3pPr>
            <a:lvl4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4pPr>
            <a:lvl5pPr>
              <a:defRPr sz="2400" b="0" i="0">
                <a:ln>
                  <a:noFill/>
                </a:ln>
                <a:solidFill>
                  <a:schemeClr val="bg1"/>
                </a:solidFill>
                <a:effectLst/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52807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dividual Speak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5"/>
          <p:cNvSpPr>
            <a:spLocks noGrp="1"/>
          </p:cNvSpPr>
          <p:nvPr>
            <p:ph type="body" sz="quarter" idx="11" hasCustomPrompt="1"/>
          </p:nvPr>
        </p:nvSpPr>
        <p:spPr>
          <a:xfrm>
            <a:off x="435400" y="371949"/>
            <a:ext cx="5816600" cy="180232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70000"/>
              </a:lnSpc>
              <a:buNone/>
              <a:defRPr sz="4800" b="1" i="0" cap="none" baseline="0">
                <a:solidFill>
                  <a:schemeClr val="bg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38" name="Text Placeholder 37"/>
          <p:cNvSpPr>
            <a:spLocks noGrp="1"/>
          </p:cNvSpPr>
          <p:nvPr>
            <p:ph type="body" sz="quarter" idx="12" hasCustomPrompt="1"/>
          </p:nvPr>
        </p:nvSpPr>
        <p:spPr>
          <a:xfrm>
            <a:off x="435400" y="2547070"/>
            <a:ext cx="5800921" cy="119594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451092" y="2315748"/>
            <a:ext cx="5644908" cy="15413"/>
          </a:xfrm>
          <a:prstGeom prst="line">
            <a:avLst/>
          </a:prstGeom>
          <a:ln w="12700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439951" y="3974332"/>
            <a:ext cx="2973916" cy="1526116"/>
          </a:xfrm>
          <a:prstGeom prst="rect">
            <a:avLst/>
          </a:prstGeom>
        </p:spPr>
        <p:txBody>
          <a:bodyPr anchor="ctr"/>
          <a:lstStyle>
            <a:lvl1pPr marL="692133" indent="-692133" algn="ctr">
              <a:buFont typeface="+mj-lt"/>
              <a:buNone/>
              <a:tabLst/>
              <a:defRPr sz="1867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457189" marR="0" lvl="0" indent="-457189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[Company Logo Here]</a:t>
            </a:r>
          </a:p>
        </p:txBody>
      </p:sp>
      <p:sp>
        <p:nvSpPr>
          <p:cNvPr id="15" name="Picture Placeholder 33">
            <a:extLst>
              <a:ext uri="{FF2B5EF4-FFF2-40B4-BE49-F238E27FC236}">
                <a16:creationId xmlns:a16="http://schemas.microsoft.com/office/drawing/2014/main" id="{33036824-FD70-A22B-0BEB-3D12243A01A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554619" y="231178"/>
            <a:ext cx="3886200" cy="3886200"/>
          </a:xfrm>
          <a:prstGeom prst="ellipse">
            <a:avLst/>
          </a:prstGeom>
          <a:solidFill>
            <a:schemeClr val="tx1">
              <a:lumMod val="90000"/>
            </a:schemeClr>
          </a:solidFill>
          <a:ln w="12700"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133">
                <a:solidFill>
                  <a:srgbClr val="BFBFBF"/>
                </a:solidFill>
              </a:defRPr>
            </a:lvl1pPr>
          </a:lstStyle>
          <a:p>
            <a:r>
              <a:rPr lang="en-US" dirty="0"/>
              <a:t>[Insert Photo Here]</a:t>
            </a:r>
          </a:p>
        </p:txBody>
      </p:sp>
    </p:spTree>
    <p:extLst>
      <p:ext uri="{BB962C8B-B14F-4D97-AF65-F5344CB8AC3E}">
        <p14:creationId xmlns:p14="http://schemas.microsoft.com/office/powerpoint/2010/main" val="31268508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ultiple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46" hasCustomPrompt="1"/>
          </p:nvPr>
        </p:nvSpPr>
        <p:spPr>
          <a:xfrm>
            <a:off x="253886" y="4276532"/>
            <a:ext cx="2757211" cy="7831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33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[Company Logo Here]</a:t>
            </a:r>
          </a:p>
        </p:txBody>
      </p:sp>
      <p:sp>
        <p:nvSpPr>
          <p:cNvPr id="18" name="Text Placeholder 35">
            <a:extLst>
              <a:ext uri="{FF2B5EF4-FFF2-40B4-BE49-F238E27FC236}">
                <a16:creationId xmlns:a16="http://schemas.microsoft.com/office/drawing/2014/main" id="{B4350EF7-346F-C947-9FF3-E26A617180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723" y="2849826"/>
            <a:ext cx="2745376" cy="78316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ts val="2500"/>
              </a:lnSpc>
              <a:spcAft>
                <a:spcPts val="0"/>
              </a:spcAft>
              <a:buNone/>
              <a:defRPr sz="2500" b="1" i="0" cap="none" baseline="0">
                <a:solidFill>
                  <a:schemeClr val="bg1"/>
                </a:solidFill>
                <a:latin typeface="Montserrat SemiBold" pitchFamily="2" charset="77"/>
                <a:cs typeface="Montserrat SemiBold" pitchFamily="2" charset="77"/>
              </a:defRPr>
            </a:lvl1pPr>
          </a:lstStyle>
          <a:p>
            <a:pPr lvl="0"/>
            <a:r>
              <a:rPr lang="en-US" dirty="0"/>
              <a:t>Speaker</a:t>
            </a:r>
          </a:p>
          <a:p>
            <a:pPr lvl="0"/>
            <a:r>
              <a:rPr lang="en-US" dirty="0"/>
              <a:t>Name</a:t>
            </a:r>
          </a:p>
        </p:txBody>
      </p:sp>
      <p:sp>
        <p:nvSpPr>
          <p:cNvPr id="19" name="Text Placeholder 37">
            <a:extLst>
              <a:ext uri="{FF2B5EF4-FFF2-40B4-BE49-F238E27FC236}">
                <a16:creationId xmlns:a16="http://schemas.microsoft.com/office/drawing/2014/main" id="{3D7B0DFA-E54C-DC46-956F-3D70808CAA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3887" y="3632991"/>
            <a:ext cx="2757212" cy="61070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" name="Picture Placeholder 33">
            <a:extLst>
              <a:ext uri="{FF2B5EF4-FFF2-40B4-BE49-F238E27FC236}">
                <a16:creationId xmlns:a16="http://schemas.microsoft.com/office/drawing/2014/main" id="{87CD9606-707B-972C-7623-FCA34C24233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72013" y="253322"/>
            <a:ext cx="2320956" cy="2320956"/>
          </a:xfrm>
          <a:prstGeom prst="ellipse">
            <a:avLst/>
          </a:prstGeom>
          <a:solidFill>
            <a:schemeClr val="tx2">
              <a:lumMod val="90000"/>
            </a:schemeClr>
          </a:solidFill>
          <a:ln w="12700"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133">
                <a:solidFill>
                  <a:srgbClr val="BFBFBF"/>
                </a:solidFill>
              </a:defRPr>
            </a:lvl1pPr>
          </a:lstStyle>
          <a:p>
            <a:r>
              <a:rPr lang="en-US" dirty="0"/>
              <a:t>[Insert Photo Here]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3AB346E-6D39-3D27-250D-32B26338554B}"/>
              </a:ext>
            </a:extLst>
          </p:cNvPr>
          <p:cNvSpPr>
            <a:spLocks noGrp="1"/>
          </p:cNvSpPr>
          <p:nvPr>
            <p:ph sz="quarter" idx="47" hasCustomPrompt="1"/>
          </p:nvPr>
        </p:nvSpPr>
        <p:spPr>
          <a:xfrm>
            <a:off x="3273970" y="4276532"/>
            <a:ext cx="2757211" cy="7831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33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[Company Logo Here]</a:t>
            </a:r>
          </a:p>
        </p:txBody>
      </p:sp>
      <p:sp>
        <p:nvSpPr>
          <p:cNvPr id="6" name="Text Placeholder 35">
            <a:extLst>
              <a:ext uri="{FF2B5EF4-FFF2-40B4-BE49-F238E27FC236}">
                <a16:creationId xmlns:a16="http://schemas.microsoft.com/office/drawing/2014/main" id="{99842E6C-8A21-5752-0486-2BC030E798F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285807" y="2849826"/>
            <a:ext cx="2745376" cy="78316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ts val="2500"/>
              </a:lnSpc>
              <a:spcAft>
                <a:spcPts val="0"/>
              </a:spcAft>
              <a:buNone/>
              <a:defRPr sz="2500" b="1" i="0" cap="none" baseline="0">
                <a:solidFill>
                  <a:schemeClr val="bg1"/>
                </a:solidFill>
                <a:latin typeface="Montserrat SemiBold" pitchFamily="2" charset="77"/>
                <a:cs typeface="Montserrat SemiBold" pitchFamily="2" charset="77"/>
              </a:defRPr>
            </a:lvl1pPr>
          </a:lstStyle>
          <a:p>
            <a:pPr lvl="0"/>
            <a:r>
              <a:rPr lang="en-US" dirty="0"/>
              <a:t>Speaker</a:t>
            </a:r>
          </a:p>
          <a:p>
            <a:pPr lvl="0"/>
            <a:r>
              <a:rPr lang="en-US" dirty="0"/>
              <a:t>Name</a:t>
            </a:r>
          </a:p>
        </p:txBody>
      </p:sp>
      <p:sp>
        <p:nvSpPr>
          <p:cNvPr id="7" name="Text Placeholder 37">
            <a:extLst>
              <a:ext uri="{FF2B5EF4-FFF2-40B4-BE49-F238E27FC236}">
                <a16:creationId xmlns:a16="http://schemas.microsoft.com/office/drawing/2014/main" id="{846D0E26-9BFE-C8C7-40D2-94FCE87F58D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273971" y="3632991"/>
            <a:ext cx="2757212" cy="61070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8" name="Picture Placeholder 33">
            <a:extLst>
              <a:ext uri="{FF2B5EF4-FFF2-40B4-BE49-F238E27FC236}">
                <a16:creationId xmlns:a16="http://schemas.microsoft.com/office/drawing/2014/main" id="{BD29E4D7-293C-1AC5-453F-35252D74A272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3492097" y="253322"/>
            <a:ext cx="2320956" cy="2320956"/>
          </a:xfrm>
          <a:prstGeom prst="ellipse">
            <a:avLst/>
          </a:prstGeom>
          <a:solidFill>
            <a:schemeClr val="tx1">
              <a:lumMod val="90000"/>
            </a:schemeClr>
          </a:solidFill>
          <a:ln w="12700"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133">
                <a:solidFill>
                  <a:srgbClr val="BFBFBF"/>
                </a:solidFill>
              </a:defRPr>
            </a:lvl1pPr>
          </a:lstStyle>
          <a:p>
            <a:r>
              <a:rPr lang="en-US" dirty="0"/>
              <a:t>[Insert Photo Here]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30854C3-E59A-0FB9-AE46-1ECA8BD0EEB4}"/>
              </a:ext>
            </a:extLst>
          </p:cNvPr>
          <p:cNvSpPr>
            <a:spLocks noGrp="1"/>
          </p:cNvSpPr>
          <p:nvPr>
            <p:ph sz="quarter" idx="51" hasCustomPrompt="1"/>
          </p:nvPr>
        </p:nvSpPr>
        <p:spPr>
          <a:xfrm>
            <a:off x="6233351" y="4276532"/>
            <a:ext cx="2757211" cy="7831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33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[Company Logo Here]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8F8EBBEB-0CB3-A17A-6031-9E2DEE2B760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45188" y="2849826"/>
            <a:ext cx="2745376" cy="78316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ts val="2500"/>
              </a:lnSpc>
              <a:spcAft>
                <a:spcPts val="0"/>
              </a:spcAft>
              <a:buNone/>
              <a:defRPr sz="2500" b="1" i="0" cap="none" baseline="0">
                <a:solidFill>
                  <a:schemeClr val="bg1"/>
                </a:solidFill>
                <a:latin typeface="Montserrat SemiBold" pitchFamily="2" charset="77"/>
                <a:cs typeface="Montserrat SemiBold" pitchFamily="2" charset="77"/>
              </a:defRPr>
            </a:lvl1pPr>
          </a:lstStyle>
          <a:p>
            <a:pPr lvl="0"/>
            <a:r>
              <a:rPr lang="en-US" dirty="0"/>
              <a:t>Speaker</a:t>
            </a:r>
          </a:p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37">
            <a:extLst>
              <a:ext uri="{FF2B5EF4-FFF2-40B4-BE49-F238E27FC236}">
                <a16:creationId xmlns:a16="http://schemas.microsoft.com/office/drawing/2014/main" id="{FBF5DC0D-2EBF-2411-36B6-07B8F367483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33352" y="3632991"/>
            <a:ext cx="2757212" cy="61070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12" name="Picture Placeholder 33">
            <a:extLst>
              <a:ext uri="{FF2B5EF4-FFF2-40B4-BE49-F238E27FC236}">
                <a16:creationId xmlns:a16="http://schemas.microsoft.com/office/drawing/2014/main" id="{2423CAB9-426F-5AAD-D323-866153E18309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451478" y="253322"/>
            <a:ext cx="2320956" cy="2320956"/>
          </a:xfrm>
          <a:prstGeom prst="ellipse">
            <a:avLst/>
          </a:prstGeom>
          <a:solidFill>
            <a:schemeClr val="tx1">
              <a:lumMod val="90000"/>
            </a:schemeClr>
          </a:solidFill>
          <a:ln w="12700"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133">
                <a:solidFill>
                  <a:srgbClr val="BFBFBF"/>
                </a:solidFill>
              </a:defRPr>
            </a:lvl1pPr>
          </a:lstStyle>
          <a:p>
            <a:r>
              <a:rPr lang="en-US" dirty="0"/>
              <a:t>[Insert Photo Here]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6F85CD1-E44E-9495-5285-B5559D66173E}"/>
              </a:ext>
            </a:extLst>
          </p:cNvPr>
          <p:cNvSpPr>
            <a:spLocks noGrp="1"/>
          </p:cNvSpPr>
          <p:nvPr>
            <p:ph sz="quarter" idx="55" hasCustomPrompt="1"/>
          </p:nvPr>
        </p:nvSpPr>
        <p:spPr>
          <a:xfrm>
            <a:off x="9180900" y="4276532"/>
            <a:ext cx="2757211" cy="7831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333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[Company Logo Here]</a:t>
            </a:r>
          </a:p>
        </p:txBody>
      </p:sp>
      <p:sp>
        <p:nvSpPr>
          <p:cNvPr id="14" name="Text Placeholder 35">
            <a:extLst>
              <a:ext uri="{FF2B5EF4-FFF2-40B4-BE49-F238E27FC236}">
                <a16:creationId xmlns:a16="http://schemas.microsoft.com/office/drawing/2014/main" id="{2ED1DBF7-B338-5E98-EDA1-36829FF9F75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192737" y="2849826"/>
            <a:ext cx="2745376" cy="78316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ts val="2500"/>
              </a:lnSpc>
              <a:spcAft>
                <a:spcPts val="0"/>
              </a:spcAft>
              <a:buNone/>
              <a:defRPr sz="2500" b="1" i="0" cap="none" baseline="0">
                <a:solidFill>
                  <a:schemeClr val="bg1"/>
                </a:solidFill>
                <a:latin typeface="Montserrat SemiBold" pitchFamily="2" charset="77"/>
                <a:cs typeface="Montserrat SemiBold" pitchFamily="2" charset="77"/>
              </a:defRPr>
            </a:lvl1pPr>
          </a:lstStyle>
          <a:p>
            <a:pPr lvl="0"/>
            <a:r>
              <a:rPr lang="en-US" dirty="0"/>
              <a:t>Speaker</a:t>
            </a:r>
          </a:p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37">
            <a:extLst>
              <a:ext uri="{FF2B5EF4-FFF2-40B4-BE49-F238E27FC236}">
                <a16:creationId xmlns:a16="http://schemas.microsoft.com/office/drawing/2014/main" id="{4976D42B-D231-E809-DD77-DB544B123683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180901" y="3632991"/>
            <a:ext cx="2757212" cy="61070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Montserrat" pitchFamily="2" charset="77"/>
                <a:cs typeface="Montserrat" pitchFamily="2" charset="77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16" name="Picture Placeholder 33">
            <a:extLst>
              <a:ext uri="{FF2B5EF4-FFF2-40B4-BE49-F238E27FC236}">
                <a16:creationId xmlns:a16="http://schemas.microsoft.com/office/drawing/2014/main" id="{9EBDCD44-218A-3FF9-F344-22D80C2DCCB3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399027" y="253322"/>
            <a:ext cx="2320956" cy="2320956"/>
          </a:xfrm>
          <a:prstGeom prst="ellipse">
            <a:avLst/>
          </a:prstGeom>
          <a:solidFill>
            <a:schemeClr val="tx1">
              <a:lumMod val="90000"/>
            </a:schemeClr>
          </a:solidFill>
          <a:ln w="12700"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133">
                <a:solidFill>
                  <a:srgbClr val="BFBFBF"/>
                </a:solidFill>
              </a:defRPr>
            </a:lvl1pPr>
          </a:lstStyle>
          <a:p>
            <a:r>
              <a:rPr lang="en-US" dirty="0"/>
              <a:t>[Insert Photo Here]</a:t>
            </a:r>
          </a:p>
        </p:txBody>
      </p:sp>
    </p:spTree>
    <p:extLst>
      <p:ext uri="{BB962C8B-B14F-4D97-AF65-F5344CB8AC3E}">
        <p14:creationId xmlns:p14="http://schemas.microsoft.com/office/powerpoint/2010/main" val="3580804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1D9BF1-FEF2-A3CA-BAC8-851D7B573411}"/>
              </a:ext>
            </a:extLst>
          </p:cNvPr>
          <p:cNvSpPr txBox="1"/>
          <p:nvPr userDrawn="1"/>
        </p:nvSpPr>
        <p:spPr>
          <a:xfrm>
            <a:off x="2694431" y="1141988"/>
            <a:ext cx="67909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i="0" cap="none" baseline="0" dirty="0">
                <a:solidFill>
                  <a:schemeClr val="bg1"/>
                </a:solidFill>
                <a:latin typeface="Montserrat" pitchFamily="2" charset="77"/>
                <a:cs typeface="Myriad Pro"/>
              </a:rPr>
              <a:t>Thank you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1CDD1CD-9053-75B9-9717-E930C5966F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4575" y="2902179"/>
            <a:ext cx="6059425" cy="20630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>
              <a:defRPr sz="1800">
                <a:solidFill>
                  <a:schemeClr val="bg1"/>
                </a:solidFill>
                <a:latin typeface="Libre Franklin" pitchFamily="2" charset="77"/>
              </a:defRPr>
            </a:lvl2pPr>
            <a:lvl3pPr>
              <a:defRPr sz="1800">
                <a:solidFill>
                  <a:schemeClr val="bg1"/>
                </a:solidFill>
                <a:latin typeface="Libre Franklin" pitchFamily="2" charset="77"/>
              </a:defRPr>
            </a:lvl3pPr>
            <a:lvl4pPr>
              <a:defRPr sz="1800">
                <a:solidFill>
                  <a:schemeClr val="bg1"/>
                </a:solidFill>
                <a:latin typeface="Libre Franklin" pitchFamily="2" charset="77"/>
              </a:defRPr>
            </a:lvl4pPr>
            <a:lvl5pPr>
              <a:defRPr sz="1800">
                <a:solidFill>
                  <a:schemeClr val="bg1"/>
                </a:solidFill>
                <a:latin typeface="Libre Franklin" pitchFamily="2" charset="77"/>
              </a:defRPr>
            </a:lvl5pPr>
          </a:lstStyle>
          <a:p>
            <a:pPr lvl="0"/>
            <a:r>
              <a:rPr lang="en-US" dirty="0"/>
              <a:t>Closing sentence or contact information goes here.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DF947FB-2A10-5D2D-5EA6-AEC49B439A88}"/>
              </a:ext>
            </a:extLst>
          </p:cNvPr>
          <p:cNvCxnSpPr>
            <a:cxnSpLocks/>
          </p:cNvCxnSpPr>
          <p:nvPr userDrawn="1"/>
        </p:nvCxnSpPr>
        <p:spPr>
          <a:xfrm>
            <a:off x="5424228" y="2480118"/>
            <a:ext cx="1343543" cy="0"/>
          </a:xfrm>
          <a:prstGeom prst="line">
            <a:avLst/>
          </a:prstGeom>
          <a:ln w="69850" cap="rnd">
            <a:solidFill>
              <a:schemeClr val="accent3"/>
            </a:solidFill>
            <a:rou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8683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1D9BF1-FEF2-A3CA-BAC8-851D7B573411}"/>
              </a:ext>
            </a:extLst>
          </p:cNvPr>
          <p:cNvSpPr txBox="1"/>
          <p:nvPr userDrawn="1"/>
        </p:nvSpPr>
        <p:spPr>
          <a:xfrm>
            <a:off x="2694431" y="1141988"/>
            <a:ext cx="67909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i="0" cap="none" baseline="0" dirty="0">
                <a:solidFill>
                  <a:schemeClr val="bg1"/>
                </a:solidFill>
                <a:latin typeface="Montserrat" pitchFamily="2" charset="77"/>
                <a:cs typeface="Myriad Pro"/>
              </a:rPr>
              <a:t>Thank you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1CDD1CD-9053-75B9-9717-E930C5966F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4575" y="2902179"/>
            <a:ext cx="6059425" cy="20630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 i="0">
                <a:solidFill>
                  <a:schemeClr val="bg1"/>
                </a:solidFill>
                <a:latin typeface="Montserrat" pitchFamily="2" charset="77"/>
              </a:defRPr>
            </a:lvl1pPr>
            <a:lvl2pPr>
              <a:defRPr sz="1800">
                <a:solidFill>
                  <a:schemeClr val="bg1"/>
                </a:solidFill>
                <a:latin typeface="Libre Franklin" pitchFamily="2" charset="77"/>
              </a:defRPr>
            </a:lvl2pPr>
            <a:lvl3pPr>
              <a:defRPr sz="1800">
                <a:solidFill>
                  <a:schemeClr val="bg1"/>
                </a:solidFill>
                <a:latin typeface="Libre Franklin" pitchFamily="2" charset="77"/>
              </a:defRPr>
            </a:lvl3pPr>
            <a:lvl4pPr>
              <a:defRPr sz="1800">
                <a:solidFill>
                  <a:schemeClr val="bg1"/>
                </a:solidFill>
                <a:latin typeface="Libre Franklin" pitchFamily="2" charset="77"/>
              </a:defRPr>
            </a:lvl4pPr>
            <a:lvl5pPr>
              <a:defRPr sz="1800">
                <a:solidFill>
                  <a:schemeClr val="bg1"/>
                </a:solidFill>
                <a:latin typeface="Libre Franklin" pitchFamily="2" charset="77"/>
              </a:defRPr>
            </a:lvl5pPr>
          </a:lstStyle>
          <a:p>
            <a:pPr lvl="0"/>
            <a:r>
              <a:rPr lang="en-US" dirty="0"/>
              <a:t>Closing sentence or contact information goes here.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DF947FB-2A10-5D2D-5EA6-AEC49B439A88}"/>
              </a:ext>
            </a:extLst>
          </p:cNvPr>
          <p:cNvCxnSpPr>
            <a:cxnSpLocks/>
          </p:cNvCxnSpPr>
          <p:nvPr userDrawn="1"/>
        </p:nvCxnSpPr>
        <p:spPr>
          <a:xfrm>
            <a:off x="5424228" y="2480118"/>
            <a:ext cx="1343543" cy="0"/>
          </a:xfrm>
          <a:prstGeom prst="line">
            <a:avLst/>
          </a:prstGeom>
          <a:ln w="69850" cap="rnd">
            <a:solidFill>
              <a:schemeClr val="accent3"/>
            </a:solidFill>
            <a:rou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6372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_Sponso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07D17F-E389-BEAA-BE60-54A38C604EBB}"/>
              </a:ext>
            </a:extLst>
          </p:cNvPr>
          <p:cNvSpPr txBox="1"/>
          <p:nvPr userDrawn="1"/>
        </p:nvSpPr>
        <p:spPr>
          <a:xfrm>
            <a:off x="2889504" y="598473"/>
            <a:ext cx="6473952" cy="1658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 b="1" i="0" cap="none" baseline="0" dirty="0">
                <a:solidFill>
                  <a:schemeClr val="bg1"/>
                </a:solidFill>
                <a:latin typeface="Montserrat" pitchFamily="2" charset="77"/>
                <a:cs typeface="Myriad Pro"/>
              </a:rPr>
              <a:t>Thank you</a:t>
            </a:r>
            <a:br>
              <a:rPr lang="en-US" sz="6000" b="1" i="0" cap="none" baseline="0" dirty="0">
                <a:solidFill>
                  <a:schemeClr val="bg1"/>
                </a:solidFill>
                <a:latin typeface="Montserrat" pitchFamily="2" charset="77"/>
                <a:cs typeface="Myriad Pro"/>
              </a:rPr>
            </a:br>
            <a:r>
              <a:rPr lang="en-US" sz="6000" b="1" i="0" cap="none" baseline="0" dirty="0">
                <a:solidFill>
                  <a:schemeClr val="bg1"/>
                </a:solidFill>
                <a:latin typeface="Montserrat" pitchFamily="2" charset="77"/>
                <a:cs typeface="Myriad Pro"/>
              </a:rPr>
              <a:t>to our sponsors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9B9FF2-AA5A-B988-08D7-CD38FF83644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997275" y="3233928"/>
            <a:ext cx="4102100" cy="1498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[Company Logo Here]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F5AA6F-9B4B-1B84-D30D-F4845AF72987}"/>
              </a:ext>
            </a:extLst>
          </p:cNvPr>
          <p:cNvCxnSpPr>
            <a:cxnSpLocks/>
          </p:cNvCxnSpPr>
          <p:nvPr userDrawn="1"/>
        </p:nvCxnSpPr>
        <p:spPr>
          <a:xfrm>
            <a:off x="5394096" y="2660227"/>
            <a:ext cx="1343543" cy="0"/>
          </a:xfrm>
          <a:prstGeom prst="line">
            <a:avLst/>
          </a:prstGeom>
          <a:ln w="69850" cap="rnd">
            <a:solidFill>
              <a:schemeClr val="accent3"/>
            </a:solidFill>
            <a:rou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9356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pening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67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672B4B-4559-27DF-AF4A-2F3BA8A21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9C74C-FFBE-2104-F535-B39556A76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CCCBA-29DB-40D5-D94F-931A33AF27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72F2F-4BDE-4C58-BFD9-5B7673922D6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FEF51-7C66-B66F-DAC3-8801A3DED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35F22-21DA-6276-3A1F-3074030CF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276BED-AFE4-415F-852E-C4C364E35B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24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350077-6CB2-7F21-5827-5BBD5354A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38277"/>
            <a:ext cx="112562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409A9-19DA-7CEF-7DCC-A4649CC69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898777"/>
            <a:ext cx="11256264" cy="3612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62671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Montserrat" pitchFamily="2" charset="77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Montserra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Montserrat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Montserrat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Montserrat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gif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2E962-86FC-7439-5C3D-44B5525DF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21" y="3984176"/>
            <a:ext cx="8764123" cy="572974"/>
          </a:xfrm>
        </p:spPr>
        <p:txBody>
          <a:bodyPr/>
          <a:lstStyle/>
          <a:p>
            <a:pPr lvl="0"/>
            <a:r>
              <a:rPr lang="en-US" sz="1600" b="1" dirty="0"/>
              <a:t>Mewcha A. Gebremedhin, FGCU</a:t>
            </a:r>
          </a:p>
          <a:p>
            <a:pPr lvl="0"/>
            <a:r>
              <a:rPr lang="en-US" sz="1600" b="1" dirty="0"/>
              <a:t>Ahmed S. Elshall, FGCU</a:t>
            </a:r>
          </a:p>
          <a:p>
            <a:pPr lvl="0"/>
            <a:r>
              <a:rPr lang="en-US" sz="1600" b="1" dirty="0"/>
              <a:t>Ming Ye, FSU</a:t>
            </a:r>
          </a:p>
          <a:p>
            <a:pPr lvl="0"/>
            <a:r>
              <a:rPr lang="en-US" sz="1600" b="1" dirty="0"/>
              <a:t>Seneshaw Tsegaye, FGCU</a:t>
            </a:r>
          </a:p>
          <a:p>
            <a:pPr lvl="0"/>
            <a:r>
              <a:rPr lang="en-US" sz="1600" b="1" dirty="0"/>
              <a:t>Rachel Rotz, FGCU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DDC341-44AC-2A62-F12D-9078F300E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81" y="1045496"/>
            <a:ext cx="9632508" cy="3056341"/>
          </a:xfrm>
        </p:spPr>
        <p:txBody>
          <a:bodyPr>
            <a:normAutofit/>
          </a:bodyPr>
          <a:lstStyle/>
          <a:p>
            <a:r>
              <a:rPr lang="en-US" sz="3200" dirty="0"/>
              <a:t>Impact of Future Rainfall and Sea-Level Rise on Groundwater-Surface Water Interaction and Salinity in South Florida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endParaRPr lang="en-US" sz="3200" dirty="0"/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C859E542-AAE3-933C-3932-8071D9F15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475" y="5540783"/>
            <a:ext cx="2192480" cy="94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814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6E1A2-4C12-C160-A422-05A614F5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9CFD2F-ED6F-67F0-19A2-808F5C295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5380"/>
            <a:ext cx="12192000" cy="132291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F57099F-ACDB-7B49-1C8F-33FC4289404F}"/>
              </a:ext>
            </a:extLst>
          </p:cNvPr>
          <p:cNvSpPr txBox="1">
            <a:spLocks/>
          </p:cNvSpPr>
          <p:nvPr/>
        </p:nvSpPr>
        <p:spPr>
          <a:xfrm>
            <a:off x="838200" y="-1490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bg1"/>
                </a:solidFill>
              </a:rPr>
              <a:t>Climate change drives hydrologic system dynamics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2399795-19AA-2B15-78A2-A8A5FCB780EE}"/>
              </a:ext>
            </a:extLst>
          </p:cNvPr>
          <p:cNvGrpSpPr/>
          <p:nvPr/>
        </p:nvGrpSpPr>
        <p:grpSpPr>
          <a:xfrm>
            <a:off x="1192869" y="2069847"/>
            <a:ext cx="4440751" cy="4665250"/>
            <a:chOff x="317798" y="2659781"/>
            <a:chExt cx="3744499" cy="4185684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1D752CD-B4DA-AC44-C384-DFFF860E65D1}"/>
                </a:ext>
              </a:extLst>
            </p:cNvPr>
            <p:cNvGrpSpPr/>
            <p:nvPr/>
          </p:nvGrpSpPr>
          <p:grpSpPr>
            <a:xfrm>
              <a:off x="317798" y="2659781"/>
              <a:ext cx="3647898" cy="810000"/>
              <a:chOff x="271498" y="1930080"/>
              <a:chExt cx="3647898" cy="810000"/>
            </a:xfrm>
          </p:grpSpPr>
          <p:sp>
            <p:nvSpPr>
              <p:cNvPr id="42" name="Rectangle 41" descr="Fish">
                <a:extLst>
                  <a:ext uri="{FF2B5EF4-FFF2-40B4-BE49-F238E27FC236}">
                    <a16:creationId xmlns:a16="http://schemas.microsoft.com/office/drawing/2014/main" id="{4AA09450-A87A-E302-6D4F-A41D29867FFB}"/>
                  </a:ext>
                </a:extLst>
              </p:cNvPr>
              <p:cNvSpPr/>
              <p:nvPr/>
            </p:nvSpPr>
            <p:spPr>
              <a:xfrm>
                <a:off x="271498" y="1930080"/>
                <a:ext cx="810000" cy="810000"/>
              </a:xfrm>
              <a:prstGeom prst="rect">
                <a:avLst/>
              </a:prstGeom>
              <a:blipFill rotWithShape="1">
                <a:blip r:embed="rId4"/>
                <a:srcRect/>
                <a:stretch>
                  <a:fillRect l="-2000" r="-2000"/>
                </a:stretch>
              </a:blip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4BFFFB3F-EA50-BA6A-EFD6-3DCF31BC653F}"/>
                  </a:ext>
                </a:extLst>
              </p:cNvPr>
              <p:cNvSpPr/>
              <p:nvPr/>
            </p:nvSpPr>
            <p:spPr>
              <a:xfrm>
                <a:off x="1211757" y="1988720"/>
                <a:ext cx="2707639" cy="692720"/>
              </a:xfrm>
              <a:custGeom>
                <a:avLst/>
                <a:gdLst>
                  <a:gd name="connsiteX0" fmla="*/ 0 w 1800000"/>
                  <a:gd name="connsiteY0" fmla="*/ 0 h 720000"/>
                  <a:gd name="connsiteX1" fmla="*/ 1800000 w 1800000"/>
                  <a:gd name="connsiteY1" fmla="*/ 0 h 720000"/>
                  <a:gd name="connsiteX2" fmla="*/ 1800000 w 1800000"/>
                  <a:gd name="connsiteY2" fmla="*/ 720000 h 720000"/>
                  <a:gd name="connsiteX3" fmla="*/ 0 w 1800000"/>
                  <a:gd name="connsiteY3" fmla="*/ 720000 h 720000"/>
                  <a:gd name="connsiteX4" fmla="*/ 0 w 1800000"/>
                  <a:gd name="connsiteY4" fmla="*/ 0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0000" h="720000">
                    <a:moveTo>
                      <a:pt x="0" y="0"/>
                    </a:moveTo>
                    <a:lnTo>
                      <a:pt x="1800000" y="0"/>
                    </a:lnTo>
                    <a:lnTo>
                      <a:pt x="1800000" y="720000"/>
                    </a:lnTo>
                    <a:lnTo>
                      <a:pt x="0" y="7200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spcFirstLastPara="0" vert="horz" wrap="square" lIns="0" tIns="0" rIns="0" bIns="0" numCol="1" spcCol="1270" anchor="t" anchorCtr="0">
                <a:noAutofit/>
              </a:bodyPr>
              <a:lstStyle/>
              <a:p>
                <a:pPr marL="0" marR="0" lvl="0" indent="0" defTabSz="66675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hueOff val="0"/>
                        <a:satOff val="0"/>
                        <a:lumOff val="0"/>
                        <a:alphaOff val="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Sea-level rise</a:t>
                </a:r>
              </a:p>
            </p:txBody>
          </p:sp>
        </p:grpSp>
        <p:pic>
          <p:nvPicPr>
            <p:cNvPr id="44" name="Picture 2">
              <a:extLst>
                <a:ext uri="{FF2B5EF4-FFF2-40B4-BE49-F238E27FC236}">
                  <a16:creationId xmlns:a16="http://schemas.microsoft.com/office/drawing/2014/main" id="{D489461B-3478-8092-6342-C380848AE8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 t="4412"/>
            <a:stretch/>
          </p:blipFill>
          <p:spPr bwMode="auto">
            <a:xfrm>
              <a:off x="317798" y="3736505"/>
              <a:ext cx="3744499" cy="3108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33F1E9A-B131-20FF-5711-2C2DA3E983DA}"/>
              </a:ext>
            </a:extLst>
          </p:cNvPr>
          <p:cNvGrpSpPr/>
          <p:nvPr/>
        </p:nvGrpSpPr>
        <p:grpSpPr>
          <a:xfrm>
            <a:off x="6512383" y="2100621"/>
            <a:ext cx="4440751" cy="4634476"/>
            <a:chOff x="4310426" y="1870567"/>
            <a:chExt cx="3762138" cy="415491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2AB306AC-065D-6306-200B-47744C5FC2EF}"/>
                </a:ext>
              </a:extLst>
            </p:cNvPr>
            <p:cNvGrpSpPr/>
            <p:nvPr/>
          </p:nvGrpSpPr>
          <p:grpSpPr>
            <a:xfrm>
              <a:off x="4310426" y="1870567"/>
              <a:ext cx="3668804" cy="810000"/>
              <a:chOff x="4310426" y="2010384"/>
              <a:chExt cx="3668804" cy="810000"/>
            </a:xfrm>
          </p:grpSpPr>
          <p:sp>
            <p:nvSpPr>
              <p:cNvPr id="49" name="Rectangle 48" descr="Lightning">
                <a:extLst>
                  <a:ext uri="{FF2B5EF4-FFF2-40B4-BE49-F238E27FC236}">
                    <a16:creationId xmlns:a16="http://schemas.microsoft.com/office/drawing/2014/main" id="{49B3D4D5-6FE5-460F-C36D-3868D4DA7588}"/>
                  </a:ext>
                </a:extLst>
              </p:cNvPr>
              <p:cNvSpPr/>
              <p:nvPr/>
            </p:nvSpPr>
            <p:spPr>
              <a:xfrm>
                <a:off x="4310426" y="2010384"/>
                <a:ext cx="810000" cy="810000"/>
              </a:xfrm>
              <a:prstGeom prst="rect">
                <a:avLst/>
              </a:prstGeom>
              <a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a:blipFill>
              <a:ln w="12700" cap="flat" cmpd="sng" algn="ctr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2C72D489-BB20-D35F-407F-3F9180C98CBA}"/>
                  </a:ext>
                </a:extLst>
              </p:cNvPr>
              <p:cNvSpPr/>
              <p:nvPr/>
            </p:nvSpPr>
            <p:spPr>
              <a:xfrm>
                <a:off x="5120426" y="2055384"/>
                <a:ext cx="2858804" cy="720000"/>
              </a:xfrm>
              <a:custGeom>
                <a:avLst/>
                <a:gdLst>
                  <a:gd name="connsiteX0" fmla="*/ 0 w 1800000"/>
                  <a:gd name="connsiteY0" fmla="*/ 0 h 720000"/>
                  <a:gd name="connsiteX1" fmla="*/ 1800000 w 1800000"/>
                  <a:gd name="connsiteY1" fmla="*/ 0 h 720000"/>
                  <a:gd name="connsiteX2" fmla="*/ 1800000 w 1800000"/>
                  <a:gd name="connsiteY2" fmla="*/ 720000 h 720000"/>
                  <a:gd name="connsiteX3" fmla="*/ 0 w 1800000"/>
                  <a:gd name="connsiteY3" fmla="*/ 720000 h 720000"/>
                  <a:gd name="connsiteX4" fmla="*/ 0 w 1800000"/>
                  <a:gd name="connsiteY4" fmla="*/ 0 h 7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00000" h="720000">
                    <a:moveTo>
                      <a:pt x="0" y="0"/>
                    </a:moveTo>
                    <a:lnTo>
                      <a:pt x="1800000" y="0"/>
                    </a:lnTo>
                    <a:lnTo>
                      <a:pt x="1800000" y="720000"/>
                    </a:lnTo>
                    <a:lnTo>
                      <a:pt x="0" y="7200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spcFirstLastPara="0" vert="horz" wrap="square" lIns="0" tIns="0" rIns="0" bIns="0" numCol="1" spcCol="1270" anchor="t" anchorCtr="0">
                <a:noAutofit/>
              </a:bodyPr>
              <a:lstStyle/>
              <a:p>
                <a:pPr marL="0" marR="0" lvl="0" indent="0" defTabSz="66675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5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hueOff val="0"/>
                        <a:satOff val="0"/>
                        <a:lumOff val="0"/>
                        <a:alphaOff val="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Changing precipitation patterns</a:t>
                </a:r>
              </a:p>
            </p:txBody>
          </p:sp>
        </p:grp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203D6CB-9DA1-FBD3-94A1-7D37D916F6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2128" r="7423" b="9375"/>
            <a:stretch/>
          </p:blipFill>
          <p:spPr>
            <a:xfrm>
              <a:off x="4310426" y="2916517"/>
              <a:ext cx="3762138" cy="3108960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F831E66-D32A-ABE3-CD61-7D8C3C296CE5}"/>
                </a:ext>
              </a:extLst>
            </p:cNvPr>
            <p:cNvSpPr txBox="1"/>
            <p:nvPr/>
          </p:nvSpPr>
          <p:spPr>
            <a:xfrm>
              <a:off x="6744851" y="5779256"/>
              <a:ext cx="129394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</a:rPr>
                <a:t>Credit: Brent Thomas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0916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544BF-6DE9-9B80-8608-93EA9CCB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322" y="9126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Groundwater is the main source of freshwater supply </a:t>
            </a:r>
            <a:br>
              <a:rPr lang="en-US" sz="3600" dirty="0">
                <a:solidFill>
                  <a:schemeClr val="bg1"/>
                </a:solidFill>
              </a:rPr>
            </a:b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7E8A58F-7E93-BE7C-1713-41C613E3519E}"/>
              </a:ext>
            </a:extLst>
          </p:cNvPr>
          <p:cNvSpPr txBox="1">
            <a:spLocks/>
          </p:cNvSpPr>
          <p:nvPr/>
        </p:nvSpPr>
        <p:spPr>
          <a:xfrm>
            <a:off x="1214898" y="3219142"/>
            <a:ext cx="5353050" cy="1774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pic>
        <p:nvPicPr>
          <p:cNvPr id="6" name="Picture 5" descr="A map of florida showing different types of aquifer&#10;&#10;AI-generated content may be incorrect.">
            <a:extLst>
              <a:ext uri="{FF2B5EF4-FFF2-40B4-BE49-F238E27FC236}">
                <a16:creationId xmlns:a16="http://schemas.microsoft.com/office/drawing/2014/main" id="{CF271183-3BC8-9335-719C-0DD5E0B547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18"/>
          <a:stretch/>
        </p:blipFill>
        <p:spPr>
          <a:xfrm>
            <a:off x="290523" y="1690688"/>
            <a:ext cx="5103937" cy="387769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052E874-201F-C05A-41B2-DA8E9A40E89D}"/>
              </a:ext>
            </a:extLst>
          </p:cNvPr>
          <p:cNvGrpSpPr/>
          <p:nvPr/>
        </p:nvGrpSpPr>
        <p:grpSpPr>
          <a:xfrm>
            <a:off x="5759420" y="1416829"/>
            <a:ext cx="6187526" cy="3947552"/>
            <a:chOff x="4871716" y="2527904"/>
            <a:chExt cx="5326380" cy="318863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A1A2BC-8206-7D7A-AA1F-3545B93F358D}"/>
                </a:ext>
              </a:extLst>
            </p:cNvPr>
            <p:cNvSpPr txBox="1"/>
            <p:nvPr/>
          </p:nvSpPr>
          <p:spPr>
            <a:xfrm>
              <a:off x="4993634" y="5439542"/>
              <a:ext cx="520446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i="1" dirty="0"/>
                <a:t>https://www.evergladesfoundation.org/post/drinking-from-the-everglades</a:t>
              </a:r>
            </a:p>
          </p:txBody>
        </p:sp>
        <p:pic>
          <p:nvPicPr>
            <p:cNvPr id="14" name="Picture 13" descr="A blue line graph with white text&#10;&#10;AI-generated content may be incorrect.">
              <a:extLst>
                <a:ext uri="{FF2B5EF4-FFF2-40B4-BE49-F238E27FC236}">
                  <a16:creationId xmlns:a16="http://schemas.microsoft.com/office/drawing/2014/main" id="{98890448-3B11-091B-881E-AA51D9D74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09" t="7131" r="3040" b="5109"/>
            <a:stretch/>
          </p:blipFill>
          <p:spPr>
            <a:xfrm>
              <a:off x="4871716" y="2527904"/>
              <a:ext cx="5166360" cy="2939805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BD77CCE-95A5-03B1-6E81-EC18C9FB83B8}"/>
              </a:ext>
            </a:extLst>
          </p:cNvPr>
          <p:cNvGrpSpPr/>
          <p:nvPr/>
        </p:nvGrpSpPr>
        <p:grpSpPr>
          <a:xfrm>
            <a:off x="6794226" y="1562875"/>
            <a:ext cx="5152720" cy="2485660"/>
            <a:chOff x="3771148" y="2659459"/>
            <a:chExt cx="4435592" cy="2007793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C45A03B-3A33-8A65-4F1F-0160022E2308}"/>
                </a:ext>
              </a:extLst>
            </p:cNvPr>
            <p:cNvGrpSpPr/>
            <p:nvPr/>
          </p:nvGrpSpPr>
          <p:grpSpPr>
            <a:xfrm>
              <a:off x="7520940" y="2659459"/>
              <a:ext cx="685800" cy="508105"/>
              <a:chOff x="3006176" y="5241728"/>
              <a:chExt cx="685800" cy="508105"/>
            </a:xfrm>
          </p:grpSpPr>
          <p:sp>
            <p:nvSpPr>
              <p:cNvPr id="27" name="Isosceles Triangle 26">
                <a:extLst>
                  <a:ext uri="{FF2B5EF4-FFF2-40B4-BE49-F238E27FC236}">
                    <a16:creationId xmlns:a16="http://schemas.microsoft.com/office/drawing/2014/main" id="{D72C7040-00F9-7887-0093-B521944ED199}"/>
                  </a:ext>
                </a:extLst>
              </p:cNvPr>
              <p:cNvSpPr/>
              <p:nvPr/>
            </p:nvSpPr>
            <p:spPr>
              <a:xfrm>
                <a:off x="3168129" y="5566098"/>
                <a:ext cx="212006" cy="183735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D6FF9A4-2158-1C6B-3603-D2EFFB560108}"/>
                  </a:ext>
                </a:extLst>
              </p:cNvPr>
              <p:cNvSpPr txBox="1"/>
              <p:nvPr/>
            </p:nvSpPr>
            <p:spPr>
              <a:xfrm>
                <a:off x="3006176" y="5241728"/>
                <a:ext cx="6858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</a:rPr>
                  <a:t>10%</a:t>
                </a:r>
                <a:endParaRPr lang="en-US" sz="2000" dirty="0">
                  <a:solidFill>
                    <a:schemeClr val="tx2"/>
                  </a:solidFill>
                </a:endParaRPr>
              </a:p>
            </p:txBody>
          </p: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524B279-6AB5-5B8B-FA46-C304C7E468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71148" y="3206897"/>
              <a:ext cx="4172443" cy="1460355"/>
            </a:xfrm>
            <a:prstGeom prst="straightConnector1">
              <a:avLst/>
            </a:prstGeom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CA5C7D7-304E-5FA5-F3AF-C6473D58A040}"/>
              </a:ext>
            </a:extLst>
          </p:cNvPr>
          <p:cNvGrpSpPr/>
          <p:nvPr/>
        </p:nvGrpSpPr>
        <p:grpSpPr>
          <a:xfrm>
            <a:off x="7704966" y="1973986"/>
            <a:ext cx="1506312" cy="944422"/>
            <a:chOff x="4432080" y="2910340"/>
            <a:chExt cx="1296671" cy="76285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FCD8F00-3C5B-E4A1-482D-DAEF85D1938B}"/>
                </a:ext>
              </a:extLst>
            </p:cNvPr>
            <p:cNvGrpSpPr/>
            <p:nvPr/>
          </p:nvGrpSpPr>
          <p:grpSpPr>
            <a:xfrm>
              <a:off x="4432080" y="2910340"/>
              <a:ext cx="1296671" cy="742951"/>
              <a:chOff x="3122322" y="5188844"/>
              <a:chExt cx="1296671" cy="742951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D1794DCD-E49B-0289-1E16-A285E194BD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76042" y="5188844"/>
                <a:ext cx="742951" cy="742951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0DC7485-6370-7DE2-DB36-BA99621F3D00}"/>
                  </a:ext>
                </a:extLst>
              </p:cNvPr>
              <p:cNvSpPr txBox="1"/>
              <p:nvPr/>
            </p:nvSpPr>
            <p:spPr>
              <a:xfrm>
                <a:off x="3122322" y="5285654"/>
                <a:ext cx="66014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0070C0"/>
                    </a:solidFill>
                  </a:rPr>
                  <a:t>8%</a:t>
                </a: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FAD54F71-591C-CC0A-059B-55F9091D0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5585" b="23453"/>
            <a:stretch/>
          </p:blipFill>
          <p:spPr>
            <a:xfrm rot="20999480">
              <a:off x="4525133" y="3206525"/>
              <a:ext cx="567088" cy="4666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491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604B-317E-440D-E6C1-B475213B2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431" y="-118950"/>
            <a:ext cx="10773697" cy="1325563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The study domain covers urban and wetland sub-areas</a:t>
            </a:r>
          </a:p>
        </p:txBody>
      </p:sp>
      <p:pic>
        <p:nvPicPr>
          <p:cNvPr id="6" name="Picture 5" descr="A map of the state of florida&#10;&#10;AI-generated content may be incorrect.">
            <a:extLst>
              <a:ext uri="{FF2B5EF4-FFF2-40B4-BE49-F238E27FC236}">
                <a16:creationId xmlns:a16="http://schemas.microsoft.com/office/drawing/2014/main" id="{C6C1BB5C-7CFD-3124-D705-BDBF94524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599" y="1492934"/>
            <a:ext cx="9134802" cy="525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78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C8579-6370-4D8A-5400-A16E5A805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C838C-4571-7B44-7478-1C277264B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-1596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Density-dependent integrated hydrological model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A25451-002A-1ED3-4DC8-8A7344118B94}"/>
              </a:ext>
            </a:extLst>
          </p:cNvPr>
          <p:cNvSpPr txBox="1"/>
          <p:nvPr/>
        </p:nvSpPr>
        <p:spPr>
          <a:xfrm>
            <a:off x="905946" y="6429297"/>
            <a:ext cx="6403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u="none" strike="noStrike" baseline="0" dirty="0">
                <a:latin typeface="Univers 57 Condensed"/>
              </a:rPr>
              <a:t>Conceptual model of the hydrologic system of the Biscayne and Southern Everglades Coastal Transport (BISECT) model (Swain et al., 20219)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43BFC82-17FC-5E0D-6A3D-C63A398619F8}"/>
              </a:ext>
            </a:extLst>
          </p:cNvPr>
          <p:cNvGrpSpPr/>
          <p:nvPr/>
        </p:nvGrpSpPr>
        <p:grpSpPr>
          <a:xfrm>
            <a:off x="216311" y="1465006"/>
            <a:ext cx="6694840" cy="4931329"/>
            <a:chOff x="4480618" y="1713971"/>
            <a:chExt cx="7367427" cy="47524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5EA0526-3102-A17F-8EEE-08E72097D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629" t="2057"/>
            <a:stretch/>
          </p:blipFill>
          <p:spPr>
            <a:xfrm>
              <a:off x="4480618" y="1713971"/>
              <a:ext cx="7367427" cy="4752477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CC78D1-DE81-70F1-CA2C-5C87A3A9E915}"/>
                </a:ext>
              </a:extLst>
            </p:cNvPr>
            <p:cNvSpPr/>
            <p:nvPr/>
          </p:nvSpPr>
          <p:spPr>
            <a:xfrm rot="19843225">
              <a:off x="6255696" y="3166495"/>
              <a:ext cx="875827" cy="8638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i="1" dirty="0">
                  <a:solidFill>
                    <a:schemeClr val="tx1"/>
                  </a:solidFill>
                </a:rPr>
                <a:t>Slough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DB762EB-D535-524E-2909-C7C2268C7429}"/>
              </a:ext>
            </a:extLst>
          </p:cNvPr>
          <p:cNvGrpSpPr/>
          <p:nvPr/>
        </p:nvGrpSpPr>
        <p:grpSpPr>
          <a:xfrm>
            <a:off x="6976905" y="1763243"/>
            <a:ext cx="4425067" cy="4966555"/>
            <a:chOff x="6966745" y="1763243"/>
            <a:chExt cx="4425067" cy="496655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55D00D5-3514-1E99-EF36-98F783703DC5}"/>
                </a:ext>
              </a:extLst>
            </p:cNvPr>
            <p:cNvGrpSpPr/>
            <p:nvPr/>
          </p:nvGrpSpPr>
          <p:grpSpPr>
            <a:xfrm>
              <a:off x="7586758" y="2858175"/>
              <a:ext cx="3805054" cy="3871623"/>
              <a:chOff x="7586758" y="2858175"/>
              <a:chExt cx="3805054" cy="3871623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FEF560F-D49A-9B72-A665-C179A56F551D}"/>
                  </a:ext>
                </a:extLst>
              </p:cNvPr>
              <p:cNvSpPr/>
              <p:nvPr/>
            </p:nvSpPr>
            <p:spPr>
              <a:xfrm>
                <a:off x="7586758" y="2858175"/>
                <a:ext cx="3805054" cy="3871623"/>
              </a:xfrm>
              <a:prstGeom prst="rect">
                <a:avLst/>
              </a:prstGeom>
              <a:solidFill>
                <a:schemeClr val="accent1">
                  <a:alpha val="4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B119E56-8AF9-8918-3D75-E6BA48FCC9D5}"/>
                  </a:ext>
                </a:extLst>
              </p:cNvPr>
              <p:cNvSpPr txBox="1"/>
              <p:nvPr/>
            </p:nvSpPr>
            <p:spPr>
              <a:xfrm>
                <a:off x="7642852" y="2923167"/>
                <a:ext cx="2843133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002060"/>
                    </a:solidFill>
                  </a:rPr>
                  <a:t>GCM rainfall evaluation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</a:rPr>
                  <a:t>Select best performing</a:t>
                </a:r>
              </a:p>
              <a:p>
                <a:endParaRPr lang="en-US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5ADAB3A-B220-4A6B-D922-6600FD0AFEE5}"/>
                  </a:ext>
                </a:extLst>
              </p:cNvPr>
              <p:cNvSpPr txBox="1"/>
              <p:nvPr/>
            </p:nvSpPr>
            <p:spPr>
              <a:xfrm>
                <a:off x="7588698" y="3744066"/>
                <a:ext cx="289728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002060"/>
                    </a:solidFill>
                  </a:rPr>
                  <a:t>BISECT model validation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</a:rPr>
                  <a:t>Baseline (2011-2019)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D36BEC-840F-AFF5-499E-3E3AD84CD25E}"/>
                  </a:ext>
                </a:extLst>
              </p:cNvPr>
              <p:cNvSpPr txBox="1"/>
              <p:nvPr/>
            </p:nvSpPr>
            <p:spPr>
              <a:xfrm>
                <a:off x="7588698" y="4629956"/>
                <a:ext cx="3729542" cy="1661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002060"/>
                    </a:solidFill>
                  </a:rPr>
                  <a:t>Projection run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</a:rPr>
                  <a:t>Near-future under SSP2-4.5 (2051-2059)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</a:rPr>
                  <a:t>Near-future under SSP5-8.5  (2051-2059)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</a:rPr>
                  <a:t>Far-future under SSP2-4.5 (2091-2099)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rgbClr val="002060"/>
                    </a:solidFill>
                  </a:rPr>
                  <a:t>Far-future under SSP5-8.5  (2091-2099)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dirty="0">
                  <a:solidFill>
                    <a:srgbClr val="00206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400" dirty="0">
                  <a:solidFill>
                    <a:srgbClr val="002060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EBB20E6-E0C2-0E6F-B682-344C324B33DA}"/>
                  </a:ext>
                </a:extLst>
              </p:cNvPr>
              <p:cNvSpPr txBox="1"/>
              <p:nvPr/>
            </p:nvSpPr>
            <p:spPr>
              <a:xfrm>
                <a:off x="7615774" y="5951746"/>
                <a:ext cx="28972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 dirty="0">
                    <a:solidFill>
                      <a:srgbClr val="002060"/>
                    </a:solidFill>
                  </a:rPr>
                  <a:t>Implications of study</a:t>
                </a:r>
              </a:p>
              <a:p>
                <a:endParaRPr lang="en-US" b="1" dirty="0">
                  <a:solidFill>
                    <a:srgbClr val="002060"/>
                  </a:solidFill>
                </a:endParaRPr>
              </a:p>
            </p:txBody>
          </p:sp>
        </p:grpSp>
        <p:sp>
          <p:nvSpPr>
            <p:cNvPr id="17" name="Content Placeholder 2">
              <a:extLst>
                <a:ext uri="{FF2B5EF4-FFF2-40B4-BE49-F238E27FC236}">
                  <a16:creationId xmlns:a16="http://schemas.microsoft.com/office/drawing/2014/main" id="{DC255445-0026-E69D-6AE1-87A4845304A5}"/>
                </a:ext>
              </a:extLst>
            </p:cNvPr>
            <p:cNvSpPr txBox="1">
              <a:spLocks/>
            </p:cNvSpPr>
            <p:nvPr/>
          </p:nvSpPr>
          <p:spPr>
            <a:xfrm>
              <a:off x="7556198" y="1763243"/>
              <a:ext cx="3835614" cy="98173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vert="horz" lIns="91440" tIns="182880" rIns="0" bIns="4572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en-US" sz="2200" b="1" dirty="0">
                  <a:solidFill>
                    <a:srgbClr val="FFFFFF"/>
                  </a:solidFill>
                  <a:latin typeface="+mj-lt"/>
                </a:rPr>
                <a:t>CMIP6-based Multi-model Hydroclimate Projection over the Conterminous US (CONUS</a:t>
              </a:r>
              <a:r>
                <a:rPr lang="en-US" sz="2200" dirty="0">
                  <a:solidFill>
                    <a:srgbClr val="FFFFFF"/>
                  </a:solidFill>
                  <a:latin typeface="+mj-lt"/>
                </a:rPr>
                <a:t>)</a:t>
              </a:r>
            </a:p>
            <a:p>
              <a:r>
                <a:rPr lang="en-US" sz="2200" b="1" dirty="0">
                  <a:solidFill>
                    <a:srgbClr val="FFFFFF"/>
                  </a:solidFill>
                  <a:latin typeface="+mj-lt"/>
                </a:rPr>
                <a:t>NASA Sea Level Projection Tool</a:t>
              </a:r>
              <a:br>
                <a:rPr lang="en-US" sz="2200" dirty="0">
                  <a:solidFill>
                    <a:srgbClr val="FFFFFF"/>
                  </a:solidFill>
                  <a:latin typeface="+mj-lt"/>
                </a:rPr>
              </a:br>
              <a:endParaRPr lang="en-US" altLang="en-US" sz="2200" dirty="0">
                <a:solidFill>
                  <a:schemeClr val="bg1"/>
                </a:solidFill>
                <a:latin typeface="+mj-lt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altLang="en-US" sz="1800" dirty="0">
                <a:solidFill>
                  <a:schemeClr val="bg1"/>
                </a:solidFill>
                <a:latin typeface="Aptos Display (Headings)"/>
              </a:endParaRPr>
            </a:p>
            <a:p>
              <a:endParaRPr lang="en-US" sz="1800" dirty="0">
                <a:solidFill>
                  <a:schemeClr val="bg1"/>
                </a:solidFill>
                <a:latin typeface="Aptos Display (Headings)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1357120-0BE0-FADA-C079-27376F097B5B}"/>
                </a:ext>
              </a:extLst>
            </p:cNvPr>
            <p:cNvSpPr/>
            <p:nvPr/>
          </p:nvSpPr>
          <p:spPr>
            <a:xfrm>
              <a:off x="6966745" y="1954483"/>
              <a:ext cx="45719" cy="4175760"/>
            </a:xfrm>
            <a:prstGeom prst="ellipse">
              <a:avLst/>
            </a:prstGeom>
            <a:gradFill>
              <a:gsLst>
                <a:gs pos="33000">
                  <a:srgbClr val="00B0F0"/>
                </a:gs>
                <a:gs pos="67000">
                  <a:srgbClr val="00A4E7"/>
                </a:gs>
                <a:gs pos="78000">
                  <a:srgbClr val="0070C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30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B92F2-14D8-0EC7-E609-3F76F445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390CF-8C73-5D3B-CCDF-B342F9FA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Evaluation of GCM rainfall projections revealed varying spatial patterns of rainfall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3FE503-B1C6-D68F-4260-8634727F36F4}"/>
              </a:ext>
            </a:extLst>
          </p:cNvPr>
          <p:cNvSpPr txBox="1"/>
          <p:nvPr/>
        </p:nvSpPr>
        <p:spPr>
          <a:xfrm>
            <a:off x="956420" y="5760630"/>
            <a:ext cx="9121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Relatively ACCESS-CM2 model perform better based different correlation and error metrics </a:t>
            </a:r>
          </a:p>
        </p:txBody>
      </p:sp>
      <p:pic>
        <p:nvPicPr>
          <p:cNvPr id="4" name="Picture 3" descr="A close-up of a colorful grid&#10;&#10;AI-generated content may be incorrect.">
            <a:extLst>
              <a:ext uri="{FF2B5EF4-FFF2-40B4-BE49-F238E27FC236}">
                <a16:creationId xmlns:a16="http://schemas.microsoft.com/office/drawing/2014/main" id="{86A3E9E8-42F0-B141-E12B-D6E6ED5BB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64" y="1748608"/>
            <a:ext cx="11592671" cy="37267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1983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C87C1-DE42-E166-6F31-89D407000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70948-1590-0934-831F-58FD4B0C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124"/>
            <a:ext cx="10515600" cy="128249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ACCESS-</a:t>
            </a:r>
            <a:r>
              <a:rPr lang="en-US" sz="3600" dirty="0" err="1">
                <a:solidFill>
                  <a:schemeClr val="bg1"/>
                </a:solidFill>
              </a:rPr>
              <a:t>CM2</a:t>
            </a:r>
            <a:r>
              <a:rPr lang="en-US" sz="3600" dirty="0">
                <a:solidFill>
                  <a:schemeClr val="bg1"/>
                </a:solidFill>
              </a:rPr>
              <a:t> model projections presented increasing pattern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6AE101-2C7B-FA9D-E29E-2F132EB8F0C3}"/>
              </a:ext>
            </a:extLst>
          </p:cNvPr>
          <p:cNvSpPr/>
          <p:nvPr/>
        </p:nvSpPr>
        <p:spPr>
          <a:xfrm>
            <a:off x="0" y="6179869"/>
            <a:ext cx="12192000" cy="6781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AFD587B-12DD-1B94-D71E-B22D2E97DB39}"/>
              </a:ext>
            </a:extLst>
          </p:cNvPr>
          <p:cNvGrpSpPr/>
          <p:nvPr/>
        </p:nvGrpSpPr>
        <p:grpSpPr>
          <a:xfrm>
            <a:off x="1286268" y="6238861"/>
            <a:ext cx="1067829" cy="369332"/>
            <a:chOff x="1448828" y="6129069"/>
            <a:chExt cx="1067829" cy="369332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D03BEA0-8A91-0045-4869-24787E3D987E}"/>
                </a:ext>
              </a:extLst>
            </p:cNvPr>
            <p:cNvSpPr txBox="1"/>
            <p:nvPr/>
          </p:nvSpPr>
          <p:spPr>
            <a:xfrm>
              <a:off x="1448828" y="6129069"/>
              <a:ext cx="9468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13.2%  </a:t>
              </a:r>
              <a:endParaRPr lang="en-US" b="1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Arrow: Up 13">
              <a:extLst>
                <a:ext uri="{FF2B5EF4-FFF2-40B4-BE49-F238E27FC236}">
                  <a16:creationId xmlns:a16="http://schemas.microsoft.com/office/drawing/2014/main" id="{F68909B8-CA57-34ED-4FCB-CF383DC29F5D}"/>
                </a:ext>
              </a:extLst>
            </p:cNvPr>
            <p:cNvSpPr/>
            <p:nvPr/>
          </p:nvSpPr>
          <p:spPr>
            <a:xfrm>
              <a:off x="2424171" y="6228080"/>
              <a:ext cx="92486" cy="152400"/>
            </a:xfrm>
            <a:prstGeom prst="up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FE17914-6ED2-A599-68BF-D1CE6C02826C}"/>
              </a:ext>
            </a:extLst>
          </p:cNvPr>
          <p:cNvGrpSpPr/>
          <p:nvPr/>
        </p:nvGrpSpPr>
        <p:grpSpPr>
          <a:xfrm>
            <a:off x="91440" y="6212777"/>
            <a:ext cx="946873" cy="673071"/>
            <a:chOff x="91440" y="6173449"/>
            <a:chExt cx="946873" cy="67307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9301C13-ACA4-09E5-63AA-A48DE557E1A8}"/>
                </a:ext>
              </a:extLst>
            </p:cNvPr>
            <p:cNvSpPr txBox="1"/>
            <p:nvPr/>
          </p:nvSpPr>
          <p:spPr>
            <a:xfrm>
              <a:off x="91440" y="6173449"/>
              <a:ext cx="9468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Mean    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D76FA85-01F2-92E3-9E95-2119C921554C}"/>
                </a:ext>
              </a:extLst>
            </p:cNvPr>
            <p:cNvCxnSpPr>
              <a:cxnSpLocks/>
            </p:cNvCxnSpPr>
            <p:nvPr/>
          </p:nvCxnSpPr>
          <p:spPr>
            <a:xfrm>
              <a:off x="995680" y="6200189"/>
              <a:ext cx="0" cy="646331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6B3AB31-0DD5-CBCF-C883-F82EFB5F8308}"/>
              </a:ext>
            </a:extLst>
          </p:cNvPr>
          <p:cNvGrpSpPr/>
          <p:nvPr/>
        </p:nvGrpSpPr>
        <p:grpSpPr>
          <a:xfrm>
            <a:off x="4090428" y="6248365"/>
            <a:ext cx="946873" cy="369332"/>
            <a:chOff x="1662188" y="6168397"/>
            <a:chExt cx="946873" cy="36933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F44D3E0-43DE-EF75-1335-E1814ED66DCA}"/>
                </a:ext>
              </a:extLst>
            </p:cNvPr>
            <p:cNvSpPr txBox="1"/>
            <p:nvPr/>
          </p:nvSpPr>
          <p:spPr>
            <a:xfrm>
              <a:off x="1662188" y="6168397"/>
              <a:ext cx="9468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3</a:t>
              </a:r>
              <a:r>
                <a:rPr lang="en-US" sz="1800" b="1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.4%  </a:t>
              </a:r>
              <a:endParaRPr lang="en-US" b="1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Arrow: Up 58">
              <a:extLst>
                <a:ext uri="{FF2B5EF4-FFF2-40B4-BE49-F238E27FC236}">
                  <a16:creationId xmlns:a16="http://schemas.microsoft.com/office/drawing/2014/main" id="{85456B64-35E5-4E01-D3EA-7946367613D2}"/>
                </a:ext>
              </a:extLst>
            </p:cNvPr>
            <p:cNvSpPr/>
            <p:nvPr/>
          </p:nvSpPr>
          <p:spPr>
            <a:xfrm>
              <a:off x="2424171" y="6267408"/>
              <a:ext cx="92486" cy="152400"/>
            </a:xfrm>
            <a:prstGeom prst="up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5E51CC2E-B87F-7641-245A-F329B96FB624}"/>
              </a:ext>
            </a:extLst>
          </p:cNvPr>
          <p:cNvGrpSpPr/>
          <p:nvPr/>
        </p:nvGrpSpPr>
        <p:grpSpPr>
          <a:xfrm>
            <a:off x="6878352" y="6258197"/>
            <a:ext cx="972453" cy="369332"/>
            <a:chOff x="1662188" y="6129069"/>
            <a:chExt cx="972453" cy="36933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8EA7F2F-00DE-E542-C283-962AE2822C92}"/>
                </a:ext>
              </a:extLst>
            </p:cNvPr>
            <p:cNvSpPr txBox="1"/>
            <p:nvPr/>
          </p:nvSpPr>
          <p:spPr>
            <a:xfrm>
              <a:off x="1662188" y="6129069"/>
              <a:ext cx="9468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12.1%  </a:t>
              </a:r>
              <a:endParaRPr lang="en-US" b="1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Arrow: Up 63">
              <a:extLst>
                <a:ext uri="{FF2B5EF4-FFF2-40B4-BE49-F238E27FC236}">
                  <a16:creationId xmlns:a16="http://schemas.microsoft.com/office/drawing/2014/main" id="{D7ECA473-5BAC-0116-2B44-3088BB33C3E6}"/>
                </a:ext>
              </a:extLst>
            </p:cNvPr>
            <p:cNvSpPr/>
            <p:nvPr/>
          </p:nvSpPr>
          <p:spPr>
            <a:xfrm>
              <a:off x="2542155" y="6228080"/>
              <a:ext cx="92486" cy="152400"/>
            </a:xfrm>
            <a:prstGeom prst="up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1B9196F-8CAE-97A9-C4E0-D94C0D520B6A}"/>
              </a:ext>
            </a:extLst>
          </p:cNvPr>
          <p:cNvGrpSpPr/>
          <p:nvPr/>
        </p:nvGrpSpPr>
        <p:grpSpPr>
          <a:xfrm>
            <a:off x="9631175" y="6268029"/>
            <a:ext cx="946873" cy="369332"/>
            <a:chOff x="1662188" y="6129069"/>
            <a:chExt cx="946873" cy="369332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941CAEC-E49B-C7A2-FAC9-649F0602E673}"/>
                </a:ext>
              </a:extLst>
            </p:cNvPr>
            <p:cNvSpPr txBox="1"/>
            <p:nvPr/>
          </p:nvSpPr>
          <p:spPr>
            <a:xfrm>
              <a:off x="1662188" y="6129069"/>
              <a:ext cx="94687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2.4</a:t>
              </a:r>
              <a:r>
                <a:rPr lang="en-US" sz="1800" b="1" dirty="0">
                  <a:solidFill>
                    <a:schemeClr val="bg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%  </a:t>
              </a:r>
              <a:endParaRPr lang="en-US" b="1" dirty="0">
                <a:solidFill>
                  <a:schemeClr val="bg1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Arrow: Up 68">
              <a:extLst>
                <a:ext uri="{FF2B5EF4-FFF2-40B4-BE49-F238E27FC236}">
                  <a16:creationId xmlns:a16="http://schemas.microsoft.com/office/drawing/2014/main" id="{D9CB921C-2347-3D2E-89AA-C3C4ABD0D58E}"/>
                </a:ext>
              </a:extLst>
            </p:cNvPr>
            <p:cNvSpPr/>
            <p:nvPr/>
          </p:nvSpPr>
          <p:spPr>
            <a:xfrm>
              <a:off x="2424171" y="6228080"/>
              <a:ext cx="92486" cy="152400"/>
            </a:xfrm>
            <a:prstGeom prst="upArrow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F657C0BA-9972-92ED-03AB-EDC56C7EAFE4}"/>
              </a:ext>
            </a:extLst>
          </p:cNvPr>
          <p:cNvSpPr/>
          <p:nvPr/>
        </p:nvSpPr>
        <p:spPr>
          <a:xfrm>
            <a:off x="0" y="6169709"/>
            <a:ext cx="12192000" cy="688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llage of images of different colors&#10;&#10;AI-generated content may be incorrect.">
            <a:extLst>
              <a:ext uri="{FF2B5EF4-FFF2-40B4-BE49-F238E27FC236}">
                <a16:creationId xmlns:a16="http://schemas.microsoft.com/office/drawing/2014/main" id="{39FED4E7-77A2-6A19-5BCA-4AA1C7A8F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" y="1744279"/>
            <a:ext cx="11550770" cy="41007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0272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85A10-E450-748E-08C5-DECAE7FB2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2172-8BAD-A09C-B594-954AAAFCE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04" y="-107500"/>
            <a:ext cx="12799143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BISECT model validation captures the overall observed trend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88D670-6A65-B7E6-CFF2-DB74B54501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2"/>
          <a:stretch/>
        </p:blipFill>
        <p:spPr>
          <a:xfrm>
            <a:off x="751840" y="1342516"/>
            <a:ext cx="9454043" cy="5495352"/>
          </a:xfrm>
          <a:prstGeom prst="rect">
            <a:avLst/>
          </a:prstGeom>
        </p:spPr>
      </p:pic>
      <p:pic>
        <p:nvPicPr>
          <p:cNvPr id="3" name="Picture 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1DA43F61-CDDB-4BED-713C-A0A652EC34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538752" y="3504962"/>
            <a:ext cx="5499755" cy="111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06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05F82-A941-75E0-2B8D-F6212B66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F5631-4D68-093F-B407-83398D8E5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745" y="-120130"/>
            <a:ext cx="10960510" cy="1207212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chemeClr val="bg1"/>
                </a:solidFill>
              </a:rPr>
              <a:t>Future surface salinity &amp; temperature change</a:t>
            </a:r>
          </a:p>
        </p:txBody>
      </p:sp>
      <p:pic>
        <p:nvPicPr>
          <p:cNvPr id="14" name="Picture 1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F07F917F-8420-4DE1-0D45-150AE9188C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5737" y="1690688"/>
            <a:ext cx="5794666" cy="36256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78316C-853C-0F4F-0801-F58DA021FB12}"/>
              </a:ext>
            </a:extLst>
          </p:cNvPr>
          <p:cNvSpPr txBox="1"/>
          <p:nvPr/>
        </p:nvSpPr>
        <p:spPr>
          <a:xfrm>
            <a:off x="415055" y="5728193"/>
            <a:ext cx="64991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B050"/>
                </a:solidFill>
              </a:rPr>
              <a:t>P1</a:t>
            </a:r>
            <a:r>
              <a:rPr lang="en-US" dirty="0"/>
              <a:t>: </a:t>
            </a:r>
            <a:r>
              <a:rPr lang="en-US" dirty="0">
                <a:solidFill>
                  <a:srgbClr val="00B050"/>
                </a:solidFill>
              </a:rPr>
              <a:t>G-3350 groundwater well in the Miami-Dade</a:t>
            </a:r>
          </a:p>
          <a:p>
            <a:r>
              <a:rPr lang="en-US" b="1" dirty="0" err="1">
                <a:solidFill>
                  <a:srgbClr val="FFC000"/>
                </a:solidFill>
              </a:rPr>
              <a:t>P2</a:t>
            </a:r>
            <a:r>
              <a:rPr lang="en-US" dirty="0"/>
              <a:t> : </a:t>
            </a:r>
            <a:r>
              <a:rPr lang="en-US" dirty="0">
                <a:solidFill>
                  <a:srgbClr val="FFC000"/>
                </a:solidFill>
              </a:rPr>
              <a:t>Mahogany Hammock site within Everglades National Park</a:t>
            </a:r>
          </a:p>
        </p:txBody>
      </p:sp>
      <p:pic>
        <p:nvPicPr>
          <p:cNvPr id="10" name="Picture 9" descr="A map of the sea&#10;&#10;AI-generated content may be incorrect.">
            <a:extLst>
              <a:ext uri="{FF2B5EF4-FFF2-40B4-BE49-F238E27FC236}">
                <a16:creationId xmlns:a16="http://schemas.microsoft.com/office/drawing/2014/main" id="{AE0DE149-A899-81A3-5610-D33005E9B6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99" y="1690688"/>
            <a:ext cx="5794666" cy="362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943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40BFE-D6BB-AE25-0EF4-B45CE7615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C9E5D-D203-F97B-D440-0E423E4ED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319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Projected recharge exhibited </a:t>
            </a:r>
            <a:r>
              <a:rPr lang="en-US" sz="3600" dirty="0" err="1">
                <a:solidFill>
                  <a:schemeClr val="bg1"/>
                </a:solidFill>
              </a:rPr>
              <a:t>spatio</a:t>
            </a:r>
            <a:r>
              <a:rPr lang="en-US" sz="3600" dirty="0">
                <a:solidFill>
                  <a:schemeClr val="bg1"/>
                </a:solidFill>
              </a:rPr>
              <a:t>-temporal variability</a:t>
            </a:r>
          </a:p>
        </p:txBody>
      </p:sp>
      <p:pic>
        <p:nvPicPr>
          <p:cNvPr id="6" name="Picture 5" descr="A map of the united states&#10;&#10;AI-generated content may be incorrect.">
            <a:extLst>
              <a:ext uri="{FF2B5EF4-FFF2-40B4-BE49-F238E27FC236}">
                <a16:creationId xmlns:a16="http://schemas.microsoft.com/office/drawing/2014/main" id="{972A88C3-343B-1A2B-67DC-42E34062C8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613" y="1391920"/>
            <a:ext cx="9003807" cy="546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094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D03B9-DC74-7FAD-D5BF-5E26D828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7AAA-E361-3BC8-C608-457944299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022" y="-128209"/>
            <a:ext cx="11461955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Groundwater water level projected to increase in the future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0A9F20-E6B4-95BD-2632-7277F094C483}"/>
              </a:ext>
            </a:extLst>
          </p:cNvPr>
          <p:cNvSpPr txBox="1"/>
          <p:nvPr/>
        </p:nvSpPr>
        <p:spPr>
          <a:xfrm>
            <a:off x="492602" y="1969532"/>
            <a:ext cx="37936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</a:t>
            </a:r>
            <a:r>
              <a:rPr lang="en-US" sz="18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igher rise is marked within Miami Beach to Bal </a:t>
            </a:r>
            <a:r>
              <a:rPr lang="en-US" sz="1800" dirty="0" err="1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Harbour</a:t>
            </a:r>
            <a:r>
              <a:rPr lang="en-US" sz="18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(~1 m)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06A213B-0C39-53D8-A092-5F06CFC3F79D}"/>
              </a:ext>
            </a:extLst>
          </p:cNvPr>
          <p:cNvGrpSpPr/>
          <p:nvPr/>
        </p:nvGrpSpPr>
        <p:grpSpPr>
          <a:xfrm>
            <a:off x="492602" y="4584012"/>
            <a:ext cx="11387370" cy="2273988"/>
            <a:chOff x="652296" y="1990418"/>
            <a:chExt cx="11387370" cy="2273988"/>
          </a:xfrm>
        </p:grpSpPr>
        <p:pic>
          <p:nvPicPr>
            <p:cNvPr id="5" name="Picture 4" descr="A blue and green gradient with black text&#10;&#10;AI-generated content may be incorrect.">
              <a:extLst>
                <a:ext uri="{FF2B5EF4-FFF2-40B4-BE49-F238E27FC236}">
                  <a16:creationId xmlns:a16="http://schemas.microsoft.com/office/drawing/2014/main" id="{6E291F68-7736-DA3E-5031-2A7D65094E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296" y="2079001"/>
              <a:ext cx="11387370" cy="218540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6518F9F-1E68-6FC7-2B50-B8032CC4F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66850" y="1990418"/>
              <a:ext cx="9563100" cy="238125"/>
            </a:xfrm>
            <a:prstGeom prst="rect">
              <a:avLst/>
            </a:prstGeom>
          </p:spPr>
        </p:pic>
      </p:grpSp>
      <p:pic>
        <p:nvPicPr>
          <p:cNvPr id="11" name="Picture 10" descr="A map of the baseline&#10;&#10;AI-generated content may be incorrect.">
            <a:extLst>
              <a:ext uri="{FF2B5EF4-FFF2-40B4-BE49-F238E27FC236}">
                <a16:creationId xmlns:a16="http://schemas.microsoft.com/office/drawing/2014/main" id="{2E5FDA09-4100-31ED-445D-9E2D7D23D5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888" y="1353523"/>
            <a:ext cx="4897093" cy="309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48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A9D9A-9D3A-E962-9E24-976804C67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580B7-0424-8423-593F-E2E7C178A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803"/>
            <a:ext cx="10515600" cy="1325563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Future scenarios indicate a pronounced reduction in groundwater evapotranspiration in the coastal areas</a:t>
            </a:r>
            <a:br>
              <a:rPr lang="en-US" sz="3600" dirty="0">
                <a:solidFill>
                  <a:schemeClr val="bg1"/>
                </a:solidFill>
              </a:rPr>
            </a:b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22" name="Picture 21" descr="A map of the united states&#10;&#10;AI-generated content may be incorrect.">
            <a:extLst>
              <a:ext uri="{FF2B5EF4-FFF2-40B4-BE49-F238E27FC236}">
                <a16:creationId xmlns:a16="http://schemas.microsoft.com/office/drawing/2014/main" id="{22370AC4-DA7A-786A-19F0-26B0B6AE8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779" y="1342933"/>
            <a:ext cx="9082092" cy="551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689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D102D-1710-E0D9-3D32-4BD992BEB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8BB15-C89F-119F-609E-CE4E10A87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922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Projected groundwater salinity increases in the future</a:t>
            </a:r>
          </a:p>
        </p:txBody>
      </p:sp>
      <p:pic>
        <p:nvPicPr>
          <p:cNvPr id="6" name="Picture 5" descr="A blue and red squares with black text&#10;&#10;AI-generated content may be incorrect.">
            <a:extLst>
              <a:ext uri="{FF2B5EF4-FFF2-40B4-BE49-F238E27FC236}">
                <a16:creationId xmlns:a16="http://schemas.microsoft.com/office/drawing/2014/main" id="{8276FDFD-7AA6-2D6C-F794-FD6EAB1B87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3" y="4510899"/>
            <a:ext cx="12079630" cy="2327437"/>
          </a:xfrm>
          <a:prstGeom prst="rect">
            <a:avLst/>
          </a:prstGeom>
        </p:spPr>
      </p:pic>
      <p:pic>
        <p:nvPicPr>
          <p:cNvPr id="12" name="Picture 11" descr="A close-up of a map&#10;&#10;AI-generated content may be incorrect.">
            <a:extLst>
              <a:ext uri="{FF2B5EF4-FFF2-40B4-BE49-F238E27FC236}">
                <a16:creationId xmlns:a16="http://schemas.microsoft.com/office/drawing/2014/main" id="{E0F1AB1D-D2FF-C79B-E7F3-55D3E73704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691" y="1351280"/>
            <a:ext cx="4883198" cy="30553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344967-043A-4616-4E60-B2F6EAAC213F}"/>
              </a:ext>
            </a:extLst>
          </p:cNvPr>
          <p:cNvSpPr txBox="1"/>
          <p:nvPr/>
        </p:nvSpPr>
        <p:spPr>
          <a:xfrm>
            <a:off x="4794203" y="2110154"/>
            <a:ext cx="1686984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00206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GW salinity at Layer 6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34643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A361E-BB1F-001D-6413-A945B774C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FB84A-1936-EF5F-7170-9A90D717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141" y="-16319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Modeling output implications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493565C-0429-55A7-DA72-21A92BF88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355" y="1747481"/>
            <a:ext cx="11119290" cy="3363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002060"/>
                </a:solidFill>
                <a:latin typeface="+mj-lt"/>
              </a:rPr>
              <a:t>Water quality issues that may require expensive interventions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002060"/>
                </a:solidFill>
                <a:latin typeface="+mj-lt"/>
              </a:rPr>
              <a:t>Flooding and infrastructure damage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002060"/>
                </a:solidFill>
                <a:latin typeface="+mj-lt"/>
              </a:rPr>
              <a:t>Ecosystem change, including loss of habitats due hydrological changes like shifting surface-groundwater interactions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002060"/>
                </a:solidFill>
                <a:latin typeface="+mj-lt"/>
              </a:rPr>
              <a:t>Nature-based tourism concern, tourism and other ecosystem services in South Florida are tied to the sustainable health of the Everglades and coastal environments</a:t>
            </a:r>
          </a:p>
        </p:txBody>
      </p:sp>
    </p:spTree>
    <p:extLst>
      <p:ext uri="{BB962C8B-B14F-4D97-AF65-F5344CB8AC3E}">
        <p14:creationId xmlns:p14="http://schemas.microsoft.com/office/powerpoint/2010/main" val="341717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qr code with text&#10;&#10;AI-generated content may be incorrect.">
            <a:extLst>
              <a:ext uri="{FF2B5EF4-FFF2-40B4-BE49-F238E27FC236}">
                <a16:creationId xmlns:a16="http://schemas.microsoft.com/office/drawing/2014/main" id="{0E361F7D-087D-594E-120A-391290DA8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0" y="2536723"/>
            <a:ext cx="1778000" cy="20084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2E788B-000D-096E-8517-52A676FCFE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7" t="22888" r="83462"/>
          <a:stretch>
            <a:fillRect/>
          </a:stretch>
        </p:blipFill>
        <p:spPr>
          <a:xfrm>
            <a:off x="2684001" y="2862588"/>
            <a:ext cx="1139133" cy="5664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5A811F-4912-12D0-E475-56EE52B478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10" t="22615" r="69457" b="7710"/>
          <a:stretch>
            <a:fillRect/>
          </a:stretch>
        </p:blipFill>
        <p:spPr>
          <a:xfrm>
            <a:off x="7991143" y="2979164"/>
            <a:ext cx="786383" cy="4368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0963A4-1572-C68C-C8F3-1053B069CB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889" t="-4653" r="45838" b="740"/>
          <a:stretch>
            <a:fillRect/>
          </a:stretch>
        </p:blipFill>
        <p:spPr>
          <a:xfrm>
            <a:off x="5886727" y="5088054"/>
            <a:ext cx="1723538" cy="8099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A36DB3-3C79-3ABD-B797-7153087A84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257" t="37600" r="25726" b="12751"/>
          <a:stretch>
            <a:fillRect/>
          </a:stretch>
        </p:blipFill>
        <p:spPr>
          <a:xfrm>
            <a:off x="4548461" y="5382264"/>
            <a:ext cx="1338266" cy="4456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E2360A-ED94-6FC5-7EF0-0D49BDB334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746" r="-1"/>
          <a:stretch>
            <a:fillRect/>
          </a:stretch>
        </p:blipFill>
        <p:spPr>
          <a:xfrm>
            <a:off x="7814769" y="3800009"/>
            <a:ext cx="1139133" cy="1118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7A7EE7-D7AB-8009-625C-B9FFDABE4E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31" r="14300"/>
          <a:stretch>
            <a:fillRect/>
          </a:stretch>
        </p:blipFill>
        <p:spPr>
          <a:xfrm>
            <a:off x="2762658" y="4002356"/>
            <a:ext cx="1139134" cy="108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365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AGU25">
  <a:themeElements>
    <a:clrScheme name="Custom 4">
      <a:dk1>
        <a:srgbClr val="173251"/>
      </a:dk1>
      <a:lt1>
        <a:srgbClr val="F9FFFF"/>
      </a:lt1>
      <a:dk2>
        <a:srgbClr val="55207F"/>
      </a:dk2>
      <a:lt2>
        <a:srgbClr val="FEFFFF"/>
      </a:lt2>
      <a:accent1>
        <a:srgbClr val="005F34"/>
      </a:accent1>
      <a:accent2>
        <a:srgbClr val="69D4D3"/>
      </a:accent2>
      <a:accent3>
        <a:srgbClr val="74D394"/>
      </a:accent3>
      <a:accent4>
        <a:srgbClr val="BD8ECE"/>
      </a:accent4>
      <a:accent5>
        <a:srgbClr val="173251"/>
      </a:accent5>
      <a:accent6>
        <a:srgbClr val="55207F"/>
      </a:accent6>
      <a:hlink>
        <a:srgbClr val="69D4D3"/>
      </a:hlink>
      <a:folHlink>
        <a:srgbClr val="C57DD8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GU25_Theme_Color" id="{9483DCB9-276D-3143-8679-36BFF75A34D0}" vid="{0C43EAE8-1A70-7E4E-8464-DF6A16256D7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3EADA034-8B76-40DD-BB15-5D338DA71F5E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6584EA2-3964-4AFD-9FE8-84F594B4CF5E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31037</TotalTime>
  <Words>893</Words>
  <Application>Microsoft Office PowerPoint</Application>
  <PresentationFormat>Widescreen</PresentationFormat>
  <Paragraphs>98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Aptos</vt:lpstr>
      <vt:lpstr>Aptos Display</vt:lpstr>
      <vt:lpstr>Aptos Display (Headings)</vt:lpstr>
      <vt:lpstr>Arial</vt:lpstr>
      <vt:lpstr>Calibri</vt:lpstr>
      <vt:lpstr>GNWUUM+TimesNewRomanPS-ItalicMT</vt:lpstr>
      <vt:lpstr>Libre Franklin</vt:lpstr>
      <vt:lpstr>Montserrat</vt:lpstr>
      <vt:lpstr>Montserrat SemiBold</vt:lpstr>
      <vt:lpstr>Times New Roman</vt:lpstr>
      <vt:lpstr>Univers 57 Condensed</vt:lpstr>
      <vt:lpstr>Wingdings</vt:lpstr>
      <vt:lpstr>Office Theme</vt:lpstr>
      <vt:lpstr>AGU25</vt:lpstr>
      <vt:lpstr>Impact of Future Rainfall and Sea-Level Rise on Groundwater-Surface Water Interaction and Salinity in South Florida   </vt:lpstr>
      <vt:lpstr>PowerPoint Presentation</vt:lpstr>
      <vt:lpstr>Groundwater is the main source of freshwater supply  </vt:lpstr>
      <vt:lpstr>The study domain covers urban and wetland sub-areas</vt:lpstr>
      <vt:lpstr>Density-dependent integrated hydrological model  </vt:lpstr>
      <vt:lpstr>Evaluation of GCM rainfall projections revealed varying spatial patterns of rainfall </vt:lpstr>
      <vt:lpstr>ACCESS-CM2 model projections presented increasing pattern </vt:lpstr>
      <vt:lpstr>BISECT model validation captures the overall observed trend</vt:lpstr>
      <vt:lpstr>Future surface salinity &amp; temperature change</vt:lpstr>
      <vt:lpstr>Projected recharge exhibited spatio-temporal variability</vt:lpstr>
      <vt:lpstr>Groundwater water level projected to increase in the future</vt:lpstr>
      <vt:lpstr>Future scenarios indicate a pronounced reduction in groundwater evapotranspiration in the coastal areas </vt:lpstr>
      <vt:lpstr>Projected groundwater salinity increases in the future</vt:lpstr>
      <vt:lpstr>Modeling output implications</vt:lpstr>
      <vt:lpstr>PowerPoint Presentation</vt:lpstr>
    </vt:vector>
  </TitlesOfParts>
  <Company>Florida Gulf Coast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Gebremedhin, Mewcha Amha</dc:creator>
  <cp:lastModifiedBy>Gebremedhin, Mewcha Amha</cp:lastModifiedBy>
  <cp:revision>159</cp:revision>
  <dcterms:created xsi:type="dcterms:W3CDTF">2024-10-15T00:49:15Z</dcterms:created>
  <dcterms:modified xsi:type="dcterms:W3CDTF">2026-08-29T03:15:54Z</dcterms:modified>
</cp:coreProperties>
</file>